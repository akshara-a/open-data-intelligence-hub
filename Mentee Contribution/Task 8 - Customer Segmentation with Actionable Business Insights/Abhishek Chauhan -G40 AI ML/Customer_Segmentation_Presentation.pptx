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4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527F-43F7-9908-4690B15CD363}"/>
              </c:ext>
            </c:extLst>
          </c:dPt>
          <c:dPt>
            <c:idx val="1"/>
            <c:bubble3D val="0"/>
            <c:spPr>
              <a:solidFill>
                <a:srgbClr val="E8A33D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527F-43F7-9908-4690B15CD363}"/>
              </c:ext>
            </c:extLst>
          </c:dPt>
          <c:dPt>
            <c:idx val="2"/>
            <c:bubble3D val="0"/>
            <c:spPr>
              <a:solidFill>
                <a:srgbClr val="7C96C4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527F-43F7-9908-4690B15CD363}"/>
              </c:ext>
            </c:extLst>
          </c:dPt>
          <c:dPt>
            <c:idx val="3"/>
            <c:bubble3D val="0"/>
            <c:spPr>
              <a:solidFill>
                <a:srgbClr val="DCE1E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527F-43F7-9908-4690B15CD363}"/>
              </c:ext>
            </c:extLst>
          </c:dPt>
          <c:cat>
            <c:strRef>
              <c:f>Sheet1!$A$2:$A$5</c:f>
              <c:strCache>
                <c:ptCount val="4"/>
                <c:pt idx="0">
                  <c:v>High-Value Loyal</c:v>
                </c:pt>
                <c:pt idx="1">
                  <c:v>Discount-Driven</c:v>
                </c:pt>
                <c:pt idx="2">
                  <c:v>Low-Engagement</c:v>
                </c:pt>
                <c:pt idx="3">
                  <c:v>Outlier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23.9</c:v>
                </c:pt>
                <c:pt idx="2">
                  <c:v>7.9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27F-43F7-9908-4690B15CD3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2426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340-4EB8-9FE0-35CE78572F7B}"/>
              </c:ext>
            </c:extLst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340-4EB8-9FE0-35CE78572F7B}"/>
              </c:ext>
            </c:extLst>
          </c:dPt>
          <c:dPt>
            <c:idx val="2"/>
            <c:invertIfNegative val="0"/>
            <c:bubble3D val="0"/>
            <c:spPr>
              <a:solidFill>
                <a:srgbClr val="7C96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340-4EB8-9FE0-35CE78572F7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426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High-Value
Loyal</c:v>
                </c:pt>
                <c:pt idx="1">
                  <c:v>Discount-
Driven</c:v>
                </c:pt>
                <c:pt idx="2">
                  <c:v>Low-
Engagement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729</c:v>
                </c:pt>
                <c:pt idx="1">
                  <c:v>471</c:v>
                </c:pt>
                <c:pt idx="2">
                  <c:v>1035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340-4EB8-9FE0-35CE78572F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426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1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Spend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426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High-Value</c:v>
                </c:pt>
                <c:pt idx="1">
                  <c:v>Discount-Driven</c:v>
                </c:pt>
                <c:pt idx="2">
                  <c:v>Low-Engage.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1265</c:v>
                </c:pt>
                <c:pt idx="1">
                  <c:v>689</c:v>
                </c:pt>
                <c:pt idx="2">
                  <c:v>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CA-4EC9-9D93-B20933A598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426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1907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97680"/>
            <a:ext cx="2743200" cy="274320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212080"/>
            <a:ext cx="2743200" cy="274320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REPORT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99669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 with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Business Insights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370629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 Report &amp; Model Comparison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9175" y="3830048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8862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2,240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   •   </a:t>
            </a: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  •   </a:t>
            </a: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  •   </a:t>
            </a: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BDC850-9724-E658-122A-FC6AD5D8449E}"/>
              </a:ext>
            </a:extLst>
          </p:cNvPr>
          <p:cNvSpPr txBox="1"/>
          <p:nvPr/>
        </p:nvSpPr>
        <p:spPr>
          <a:xfrm>
            <a:off x="7470115" y="5415378"/>
            <a:ext cx="3335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ABHISHEK CHAUHAN - G40 AI/ML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headline findings from the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73352"/>
            <a:ext cx="2542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comes from just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of customers (Cluster 1)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50876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B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673352"/>
            <a:ext cx="2542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C9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7.9%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29000" y="2423160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from the largest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— 46% of customers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673352"/>
            <a:ext cx="2542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0.863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172200" y="2423160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for the tuned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campaign-response model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150876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B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0" y="1673352"/>
            <a:ext cx="2542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915400" y="2423160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for the tuned Ridge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model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1109167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THE BUSINESS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1148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highly concentrated: </a:t>
            </a:r>
            <a:r>
              <a:rPr lang="en-US" sz="13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one-third of customers generate over two-thirds of revenue, while a large low-spending segment contributes under 8%. Marketing spend, discounting, and retention effort should be allocated accordingly — not evenly across the base.
</a:t>
            </a:r>
            <a:endParaRPr lang="en-US" sz="1350" dirty="0"/>
          </a:p>
        </p:txBody>
      </p:sp>
      <p:pic>
        <p:nvPicPr>
          <p:cNvPr id="19" name="Image 0" descr="/home/claude/ppt/icon_check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166360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88720" y="50749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discount-driven segment (Cluster 2, 21% of customers) shows the highest deal usage and responds well to targeted, time-boxed promotions.</a:t>
            </a:r>
            <a:endParaRPr lang="en-US" sz="1150" dirty="0"/>
          </a:p>
        </p:txBody>
      </p:sp>
      <p:pic>
        <p:nvPicPr>
          <p:cNvPr id="21" name="Image 1" descr="/home/claude/ppt/icon_check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623560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88720" y="55321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tuned classification model gives marketing a reliable way to rank customers before the next campaign rather than targeting everyone equally.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with Actionable Business Insights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and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1E2761"/>
          </a:solidFill>
          <a:ln/>
        </p:spPr>
      </p:sp>
      <p:pic>
        <p:nvPicPr>
          <p:cNvPr id="5" name="Image 0" descr="/home/claude/ppt/icon_warning_E8A3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105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currently runs marketing campaigns without distinguishing between customer types. This risks: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8680" y="315468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99923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Over-discounting customers who are already loyal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381304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36576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Under-investing in high-potential customers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447141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431596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a highly uneven customer base as if it were uniform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1463040"/>
            <a:ext cx="5468112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B8">
                <a:alpha val="30000"/>
              </a:srgbClr>
            </a:outerShdw>
          </a:effectLst>
        </p:spPr>
      </p:sp>
      <p:pic>
        <p:nvPicPr>
          <p:cNvPr id="15" name="Image 1" descr="/home/claude/ppt/icon_target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78308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95160" y="18105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Objective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492240" y="233172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customers by purchasing behaviour, describe what makes each group different, and convert those differences into specific marketing and retention actions.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92240" y="3246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THIS ANALYSIS SUPPORTS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492240" y="3611880"/>
            <a:ext cx="4892040" cy="50292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/>
        </p:spPr>
      </p:sp>
      <p:sp>
        <p:nvSpPr>
          <p:cNvPr id="20" name="Text 16"/>
          <p:cNvSpPr/>
          <p:nvPr/>
        </p:nvSpPr>
        <p:spPr>
          <a:xfrm>
            <a:off x="6675120" y="3611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rewards vs. discount-driven promotions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92240" y="4233672"/>
            <a:ext cx="4892040" cy="50292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/>
        </p:spPr>
      </p:sp>
      <p:sp>
        <p:nvSpPr>
          <p:cNvPr id="22" name="Text 18"/>
          <p:cNvSpPr/>
          <p:nvPr/>
        </p:nvSpPr>
        <p:spPr>
          <a:xfrm>
            <a:off x="6675120" y="423367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are at risk of churning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492240" y="4855464"/>
            <a:ext cx="4892040" cy="50292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/>
        </p:spPr>
      </p:sp>
      <p:sp>
        <p:nvSpPr>
          <p:cNvPr id="24" name="Text 20"/>
          <p:cNvSpPr/>
          <p:nvPr/>
        </p:nvSpPr>
        <p:spPr>
          <a:xfrm>
            <a:off x="6675120" y="485546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target in the next campaign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492240" y="5477256"/>
            <a:ext cx="4892040" cy="50292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/>
        </p:spPr>
      </p:sp>
      <p:sp>
        <p:nvSpPr>
          <p:cNvPr id="26" name="Text 22"/>
          <p:cNvSpPr/>
          <p:nvPr/>
        </p:nvSpPr>
        <p:spPr>
          <a:xfrm>
            <a:off x="6675120" y="547725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spending, to size campaign budgets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with Actionable Business Insights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pic>
        <p:nvPicPr>
          <p:cNvPr id="5" name="Image 0" descr="/home/claude/ppt/icon_database_E8A3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6420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48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2,240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11880" y="1463040"/>
            <a:ext cx="257860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B8">
                <a:alpha val="30000"/>
              </a:srgbClr>
            </a:outerShdw>
          </a:effectLst>
        </p:spPr>
      </p:sp>
      <p:pic>
        <p:nvPicPr>
          <p:cNvPr id="9" name="Image 1" descr="/home/claude/ppt/icon_users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048" y="16459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13048" y="21214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fields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813048" y="254203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year, education, marital status, income, household composition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45936" y="1463040"/>
            <a:ext cx="257860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B8">
                <a:alpha val="30000"/>
              </a:srgbClr>
            </a:outerShdw>
          </a:effectLst>
        </p:spPr>
      </p:sp>
      <p:pic>
        <p:nvPicPr>
          <p:cNvPr id="13" name="Image 2" descr="/home/claude/ppt/icon_chartline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16459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47104" y="21214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fields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547104" y="254203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Recency, purchase channels, website visits, discount usage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9079992" y="1463040"/>
            <a:ext cx="257860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B8">
                <a:alpha val="30000"/>
              </a:srgbClr>
            </a:outerShdw>
          </a:effectLst>
        </p:spPr>
      </p:sp>
      <p:pic>
        <p:nvPicPr>
          <p:cNvPr id="17" name="Image 3" descr="/home/claude/ppt/icon_tags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16459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81160" y="21214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&amp; campaigns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9281160" y="254203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by product category; response history across six prior campaigns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3566160"/>
            <a:ext cx="11091672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868680" y="376732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DATA PREPARATION</a:t>
            </a:r>
            <a:endParaRPr lang="en-US" sz="1200" dirty="0"/>
          </a:p>
        </p:txBody>
      </p:sp>
      <p:pic>
        <p:nvPicPr>
          <p:cNvPr id="22" name="Image 4" descr="/home/claude/ppt/icon_filter_1E27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233672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0160" y="414223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imputed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1280160" y="442569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missing Income values filled with the column median</a:t>
            </a:r>
            <a:endParaRPr lang="en-US" sz="1050" dirty="0"/>
          </a:p>
        </p:txBody>
      </p:sp>
      <p:pic>
        <p:nvPicPr>
          <p:cNvPr id="25" name="Image 5" descr="/home/claude/ppt/icon_warning_1E276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4233672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20840" y="414223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removed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6720840" y="442569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above 90 and incomes above $200,000 (3 records)</a:t>
            </a:r>
            <a:endParaRPr lang="en-US" sz="1050" dirty="0"/>
          </a:p>
        </p:txBody>
      </p:sp>
      <p:pic>
        <p:nvPicPr>
          <p:cNvPr id="28" name="Image 6" descr="/home/claude/ppt/icon_brain_1E276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5193792"/>
            <a:ext cx="292608" cy="29260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280160" y="510235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engineered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1280160" y="53858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Total Spending, Total Purchases, AOV, Tenure, Household Children, Campaigns Accepted</a:t>
            </a:r>
            <a:endParaRPr lang="en-US" sz="1050" dirty="0"/>
          </a:p>
        </p:txBody>
      </p:sp>
      <p:pic>
        <p:nvPicPr>
          <p:cNvPr id="31" name="Image 7" descr="/home/claude/ppt/icon_clipboard_1E276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0" y="5193792"/>
            <a:ext cx="292608" cy="29260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720840" y="510235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</a:t>
            </a:r>
            <a:endParaRPr lang="en-US" sz="1250" dirty="0"/>
          </a:p>
        </p:txBody>
      </p:sp>
      <p:sp>
        <p:nvSpPr>
          <p:cNvPr id="33" name="Text 23"/>
          <p:cNvSpPr/>
          <p:nvPr/>
        </p:nvSpPr>
        <p:spPr>
          <a:xfrm>
            <a:off x="6720840" y="53858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Marital Status one-hot encoded for regression / classification</a:t>
            </a:r>
            <a:endParaRPr lang="en-US" sz="1050" dirty="0"/>
          </a:p>
        </p:txBody>
      </p:sp>
      <p:sp>
        <p:nvSpPr>
          <p:cNvPr id="34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with Actionable Business Insights</a:t>
            </a:r>
            <a:endParaRPr lang="en-US" sz="1000" dirty="0"/>
          </a:p>
        </p:txBody>
      </p:sp>
      <p:sp>
        <p:nvSpPr>
          <p:cNvPr id="35" name="Text 2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Segmentation (K-Means Clustering)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used seven standardized features so that no single field — particularly Income — dominated the distance calculation.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20116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2011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20116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2011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915400" y="20116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8915400" y="2011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578608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5786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37560" y="2578608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25786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Visits / Month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2578608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5786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Purchases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B8">
                <a:alpha val="30000"/>
              </a:srgbClr>
            </a:outerShdw>
          </a:effectLst>
        </p:spPr>
      </p:sp>
      <p:pic>
        <p:nvPicPr>
          <p:cNvPr id="20" name="Image 0" descr="/home/claude/ppt/icon_filter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04488"/>
            <a:ext cx="384048" cy="38404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77240" y="43616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77240" y="46360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to all 7 features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749040" y="408736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4114800" y="370332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B8">
                <a:alpha val="30000"/>
              </a:srgbClr>
            </a:outerShdw>
          </a:effectLst>
        </p:spPr>
      </p:sp>
      <p:pic>
        <p:nvPicPr>
          <p:cNvPr id="25" name="Image 1" descr="/home/claude/ppt/icon_chartline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3904488"/>
            <a:ext cx="384048" cy="38404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343400" y="43616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k = 2–10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343400" y="46360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(inertia) + silhouette score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7680960" y="3703320"/>
            <a:ext cx="3959352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29" name="Text 25"/>
          <p:cNvSpPr/>
          <p:nvPr/>
        </p:nvSpPr>
        <p:spPr>
          <a:xfrm>
            <a:off x="7223760" y="408736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30" name="Text 26"/>
          <p:cNvSpPr/>
          <p:nvPr/>
        </p:nvSpPr>
        <p:spPr>
          <a:xfrm>
            <a:off x="7955280" y="386791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4 clusters</a:t>
            </a:r>
            <a:endParaRPr lang="en-US" sz="2000" dirty="0"/>
          </a:p>
        </p:txBody>
      </p:sp>
      <p:sp>
        <p:nvSpPr>
          <p:cNvPr id="31" name="Text 27"/>
          <p:cNvSpPr/>
          <p:nvPr/>
        </p:nvSpPr>
        <p:spPr>
          <a:xfrm>
            <a:off x="7955280" y="43068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 on both elbow &amp; silhouette methods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7955280" y="46725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Silhouette score: </a:t>
            </a:r>
            <a:r>
              <a:rPr lang="en-US" sz="1400" b="1" dirty="0">
                <a:solidFill>
                  <a:srgbClr val="E8A33D"/>
                </a:solidFill>
              </a:rPr>
              <a:t>0.325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DF3E3"/>
          </a:solidFill>
          <a:ln/>
        </p:spPr>
      </p:sp>
      <p:pic>
        <p:nvPicPr>
          <p:cNvPr id="34" name="Image 2" descr="/home/claude/ppt/icon_brain_E8A33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9552"/>
            <a:ext cx="365760" cy="36576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280160" y="534924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silhouette score of 0.325 indicates moderate but usable cluster separation — typical for real-world behavioural data with overlapping spending patterns.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with Actionable Business Insights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3.2 – 3.3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Predictive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47088"/>
            <a:ext cx="5394960" cy="393192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/icon_dollar_E8A3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2763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4630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Regression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</a:t>
            </a:r>
            <a:r>
              <a:rPr lang="en-US" sz="12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customer's Total Spending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283464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 </a:t>
            </a:r>
            <a:r>
              <a:rPr lang="en-US" sz="11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age, household composition, recency, website visits, deal usage, purchase frequency, tenure, education / marital status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39776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 </a:t>
            </a:r>
            <a:r>
              <a:rPr lang="en-US" sz="11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tuned with 5-fold GridSearchCV over {0.01, 0.1, 1, 5, 10, 50, 100}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2960" y="470916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7F9FC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4846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0.803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005840" y="5349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of variance explained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337560" y="4846320"/>
            <a:ext cx="0" cy="1005840"/>
          </a:xfrm>
          <a:prstGeom prst="line">
            <a:avLst/>
          </a:prstGeom>
          <a:noFill/>
          <a:ln w="19050">
            <a:solidFill>
              <a:srgbClr val="DCE1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20440" y="48463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 = 272.2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3520440" y="5349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≈ $200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72200" y="1463040"/>
            <a:ext cx="5468112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72200" y="1463040"/>
            <a:ext cx="5468112" cy="7772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0" name="Image 1" descr="/home/claude/ppt/icon_target_E8A3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627632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49440" y="14630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6446520" y="24231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</a:t>
            </a:r>
            <a:r>
              <a:rPr lang="en-US" sz="12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customers likely to respond to the next campaign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6446520" y="283464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 </a:t>
            </a:r>
            <a:r>
              <a:rPr lang="en-US" sz="11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Recency, purchase &amp; spending history, website visits, deal usage, income, age, household composition, complaints, prior responses, cluster membership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6446520" y="397764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 </a:t>
            </a:r>
            <a:r>
              <a:rPr lang="en-US" sz="11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penalty &amp; solver tuned with 5-fold GridSearchCV optimizing ROC-AUC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446520" y="470916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7F9FC"/>
          </a:solidFill>
          <a:ln/>
        </p:spPr>
      </p:sp>
      <p:sp>
        <p:nvSpPr>
          <p:cNvPr id="26" name="Text 22"/>
          <p:cNvSpPr/>
          <p:nvPr/>
        </p:nvSpPr>
        <p:spPr>
          <a:xfrm>
            <a:off x="6629400" y="4846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= 0.863</a:t>
            </a:r>
            <a:endParaRPr lang="en-US" sz="2400" dirty="0"/>
          </a:p>
        </p:txBody>
      </p:sp>
      <p:sp>
        <p:nvSpPr>
          <p:cNvPr id="27" name="Text 23"/>
          <p:cNvSpPr/>
          <p:nvPr/>
        </p:nvSpPr>
        <p:spPr>
          <a:xfrm>
            <a:off x="6629400" y="5349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0.66 / Recall 0.28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9098280" y="4846320"/>
            <a:ext cx="0" cy="1005840"/>
          </a:xfrm>
          <a:prstGeom prst="line">
            <a:avLst/>
          </a:prstGeom>
          <a:noFill/>
          <a:ln w="19050">
            <a:solidFill>
              <a:srgbClr val="DCE1E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281160" y="4846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14.9%</a:t>
            </a:r>
            <a:endParaRPr lang="en-US" sz="2400" dirty="0"/>
          </a:p>
        </p:txBody>
      </p:sp>
      <p:sp>
        <p:nvSpPr>
          <p:cNvPr id="30" name="Text 26"/>
          <p:cNvSpPr/>
          <p:nvPr/>
        </p:nvSpPr>
        <p:spPr>
          <a:xfrm>
            <a:off x="9281160" y="5349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campaign accept rate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with Actionable Business Insights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 at a Glance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223760" cy="22860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Spend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Income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 Usage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Low-Engagement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1,035 (46%)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$34,716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High-Value Loyal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729 (33%)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$74,637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Discount-Driven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471 (21%)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$54,721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Unclassified Outlier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(0.04%)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$51,382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4048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 is a single statistical outlier (one customer, unusually high AOV) — not a marketable segment. Reviewed manually, excluded from segment-level actions.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457200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BY SEGMENT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4800600"/>
          <a:ext cx="301752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4"/>
          <p:cNvSpPr/>
          <p:nvPr/>
        </p:nvSpPr>
        <p:spPr>
          <a:xfrm>
            <a:off x="7818120" y="1417320"/>
            <a:ext cx="3822192" cy="4937760"/>
          </a:xfrm>
          <a:prstGeom prst="roundRect">
            <a:avLst>
              <a:gd name="adj" fmla="val 19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092440" y="1600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BY SEGMENT</a:t>
            </a:r>
            <a:endParaRPr lang="en-US" sz="11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8001000" y="1920240"/>
          <a:ext cx="34747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6"/>
          <p:cNvSpPr/>
          <p:nvPr/>
        </p:nvSpPr>
        <p:spPr>
          <a:xfrm>
            <a:off x="8092440" y="4343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SPENDING PER SEGMENT</a:t>
            </a:r>
            <a:endParaRPr lang="en-US" sz="1100" dirty="0"/>
          </a:p>
        </p:txBody>
      </p:sp>
      <p:graphicFrame>
        <p:nvGraphicFramePr>
          <p:cNvPr id="12" name="Chart 2"/>
          <p:cNvGraphicFramePr/>
          <p:nvPr/>
        </p:nvGraphicFramePr>
        <p:xfrm>
          <a:off x="8001000" y="4663440"/>
          <a:ext cx="347472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with Actionable Business Insights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4.1 — SEGMENT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High-Value Loyal Customers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09760" y="41148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0" y="411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66160" cy="49377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pic>
        <p:nvPicPr>
          <p:cNvPr id="7" name="Image 0" descr="/home/claude/ppt/icon_crown_E8A3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2860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clear priority for loyalty and retention investment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size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348386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729 (33%)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22960" y="4023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2960" y="426110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68.0%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22960" y="4800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spending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2960" y="503834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$1,265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22960" y="5577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income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2960" y="581558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$74,637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434840" y="141732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434840" y="1719072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income, highest spending, and the largest share of revenue — 68% — despite being only a third of the customer base.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434840" y="269748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434840" y="3017520"/>
            <a:ext cx="72237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9AA5B8">
                <a:alpha val="25000"/>
              </a:srgbClr>
            </a:outerShdw>
          </a:effectLst>
        </p:spPr>
      </p:sp>
      <p:pic>
        <p:nvPicPr>
          <p:cNvPr id="21" name="Image 1" descr="/home/claude/ppt/icon_check_E8A3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15468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029200" y="301752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loyalty rewards and early access to new products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434840" y="3675888"/>
            <a:ext cx="72237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9AA5B8">
                <a:alpha val="25000"/>
              </a:srgbClr>
            </a:outerShdw>
          </a:effectLst>
        </p:spPr>
      </p:sp>
      <p:pic>
        <p:nvPicPr>
          <p:cNvPr id="24" name="Image 2" descr="/home/claude/ppt/icon_check_E8A3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813048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029200" y="3675888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premium membership benefits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434840" y="4471416"/>
            <a:ext cx="7223760" cy="566928"/>
          </a:xfrm>
          <a:prstGeom prst="roundRect">
            <a:avLst>
              <a:gd name="adj" fmla="val 11290"/>
            </a:avLst>
          </a:prstGeom>
          <a:solidFill>
            <a:srgbClr val="FBE7E7"/>
          </a:solidFill>
          <a:ln/>
        </p:spPr>
      </p:sp>
      <p:pic>
        <p:nvPicPr>
          <p:cNvPr id="27" name="Image 3" descr="/home/claude/ppt/icon_warning_B23A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60857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029200" y="4471416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heavy discounting — these customers already show strong purchase intent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with Actionable Business Insights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4.1 — SEGMENT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Discount-Driven Customers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09760" y="41148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3D8BFF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0" y="411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66160" cy="49377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pic>
        <p:nvPicPr>
          <p:cNvPr id="7" name="Image 0" descr="/home/claude/ppt/icon_tags_3D8B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2860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Price-sensitive shoppers who respond to time-boxed offers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size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348386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8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471 (21%)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22960" y="4023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2960" y="426110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8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23.9%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22960" y="4800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spending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2960" y="503834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8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$689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22960" y="5577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income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2960" y="581558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8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$54,721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434840" y="141732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434840" y="1719072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spending with by far the highest deal usage — 4.9 vs. 1.3–1.9 for other segments — indicating strong price sensitivity.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434840" y="269748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434840" y="3017520"/>
            <a:ext cx="72237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9AA5B8">
                <a:alpha val="25000"/>
              </a:srgbClr>
            </a:outerShdw>
          </a:effectLst>
        </p:spPr>
      </p:sp>
      <p:pic>
        <p:nvPicPr>
          <p:cNvPr id="21" name="Image 1" descr="/home/claude/ppt/icon_check_3D8B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15468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029200" y="301752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targeted, time-limited promotional offers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434840" y="3675888"/>
            <a:ext cx="72237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9AA5B8">
                <a:alpha val="25000"/>
              </a:srgbClr>
            </a:outerShdw>
          </a:effectLst>
        </p:spPr>
      </p:sp>
      <p:pic>
        <p:nvPicPr>
          <p:cNvPr id="24" name="Image 2" descr="/home/claude/ppt/icon_check_3D8B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813048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029200" y="3675888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bundled products to increase order value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434840" y="4471416"/>
            <a:ext cx="7223760" cy="566928"/>
          </a:xfrm>
          <a:prstGeom prst="roundRect">
            <a:avLst>
              <a:gd name="adj" fmla="val 11290"/>
            </a:avLst>
          </a:prstGeom>
          <a:solidFill>
            <a:srgbClr val="FBE7E7"/>
          </a:solidFill>
          <a:ln/>
        </p:spPr>
      </p:sp>
      <p:pic>
        <p:nvPicPr>
          <p:cNvPr id="27" name="Image 3" descr="/home/claude/ppt/icon_warning_B23A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60857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029200" y="4471416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discounting outside campaign windows — it erodes margin without adding response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with Actionable Business Insights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4.1 — SEGMENT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Low-Engagement Customers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09760" y="41148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7C96C4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0" y="411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66160" cy="49377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pic>
        <p:nvPicPr>
          <p:cNvPr id="7" name="Image 0" descr="/home/claude/ppt/icon_users_7C96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2860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Largest group by count, smallest contribution to revenue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size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348386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9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1,035 (46%)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22960" y="4023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2960" y="426110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9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7.9%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22960" y="4800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spending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2960" y="503834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9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22960" y="5577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income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2960" y="581558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9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$34,716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434840" y="141732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434840" y="1719072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segment by customer count but the lowest spending and lowest income, contributing under 8% of revenue.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434840" y="269748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434840" y="3017520"/>
            <a:ext cx="72237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9AA5B8">
                <a:alpha val="25000"/>
              </a:srgbClr>
            </a:outerShdw>
          </a:effectLst>
        </p:spPr>
      </p:sp>
      <p:pic>
        <p:nvPicPr>
          <p:cNvPr id="21" name="Image 1" descr="/home/claude/ppt/icon_check_7C96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15468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029200" y="301752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low-cost, automated email campaigns rather than expensive advertising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434840" y="3675888"/>
            <a:ext cx="72237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9AA5B8">
                <a:alpha val="25000"/>
              </a:srgbClr>
            </a:outerShdw>
          </a:effectLst>
        </p:spPr>
      </p:sp>
      <p:pic>
        <p:nvPicPr>
          <p:cNvPr id="24" name="Image 2" descr="/home/claude/ppt/icon_check_7C96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813048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029200" y="3675888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entry-level products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434840" y="4471416"/>
            <a:ext cx="7223760" cy="566928"/>
          </a:xfrm>
          <a:prstGeom prst="roundRect">
            <a:avLst>
              <a:gd name="adj" fmla="val 11290"/>
            </a:avLst>
          </a:prstGeom>
          <a:solidFill>
            <a:srgbClr val="FBE7E7"/>
          </a:solidFill>
          <a:ln/>
        </p:spPr>
      </p:sp>
      <p:pic>
        <p:nvPicPr>
          <p:cNvPr id="27" name="Image 3" descr="/home/claude/ppt/icon_warning_B23A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60857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029200" y="4471416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heavy paid-media investment — reassess periodically whether this group should remain a marketing priority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with Actionable Business Insights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and Comparison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199948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segmentation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Evaluated k = 2–10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= 0.325 (k=4)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 spending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272.2, R² 0.803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(no hyperparams)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 spending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272.2, R² 0.803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272.2, R² 0.803 (α tuned)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 purchase likelihood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 0.864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4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 0.863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1188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3794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— PREDICTING SPEND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4114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0.803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480060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~80% of the variance in customer spending using only demographic and behavioural features — no spending data itself. Mean absolute error ≈ $200. Tuning alpha matched the baseline almost exactly, meaning the untuned regularization was already close to optimal.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3611880"/>
            <a:ext cx="5468112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3794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PURCHASE LIKELIHOOD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46520" y="4114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 = 0.863</a:t>
            </a:r>
            <a:endParaRPr lang="en-US" sz="3200" dirty="0"/>
          </a:p>
        </p:txBody>
      </p:sp>
      <p:sp>
        <p:nvSpPr>
          <p:cNvPr id="4" name="Text 9"/>
          <p:cNvSpPr/>
          <p:nvPr/>
        </p:nvSpPr>
        <p:spPr>
          <a:xfrm>
            <a:off x="6446520" y="4800600"/>
            <a:ext cx="5074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14.9% of customers accepted the most recent campaign, so the model is conservative by design: when it flags a customer as likely to respond, it's right about two-thirds of the time (precision 0.66), though it misses some true responders (recall 0.28) — a good fit for a budget-constrained campaign.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with Actionable Business Insights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 and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/icon_crown_E8A3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0934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Highest revenue segment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1975104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Loyal Customers (Cluster 1) — protect this relationship with loyalty perks and early access rather than discounts.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72200" y="1463040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73368" y="16642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/icon_tags_E8A3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78308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60934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Most price-sensitive segment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086600" y="1975104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Discount-Driven Customers (Cluster 2) — the highest deal usage in the dataset; use time-boxed promotions and bundles instead of standing discounts.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090672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291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ppt/icon_users_E8A33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41071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23697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Lowest priority for paid spend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463040" y="3602736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Low-Engagement Customers (Cluster 0) — nearly half of customers but under 8% of revenue; use low-cost channels only.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72200" y="3090672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73368" y="3291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ppt/icon_target_E8A3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41071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23697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Campaign targeting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086600" y="3602736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customers by the tuned classification model's predicted probability; set a threshold based on cost vs. expected revenue.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718304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49194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ppt/icon_dollar_E8A3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038344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48646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Budgeting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463040" y="5230368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tuned Ridge regression's spending estimate to size expected order value per customer for campaign economics.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172200" y="4718304"/>
            <a:ext cx="53492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73368" y="49194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ppt/icon_searchdollar_E8A33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5038344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86600" y="48646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Data quality follow-up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086600" y="5230368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single-customer outlier cluster and the wider Income/Age outliers removed during cleaning.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with Actionable Business Insights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Segmenting customers into four groups — with one flagged as a data outlier rather than a true segment — reveals a highly concentrated revenue base: one-third of customers generate two-thirds of revenue, while nearly half of customers contribute less than 8%.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this segmentation with a spending-prediction model and a campaign-response classifier gives the marketing team both a map of who its customers are, and two working tools to act on that map.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pic>
        <p:nvPicPr>
          <p:cNvPr id="7" name="Image 0" descr="/home/claude/ppt/icon_database_E8A3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84048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431596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464515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customer segments describing who the customers are and what drives their value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36118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pic>
        <p:nvPicPr>
          <p:cNvPr id="11" name="Image 1" descr="/home/claude/ppt/icon_dollar_E8A3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384048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431596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Budgeting tool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99432" y="464515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(R² = 0.803) to estimate predicted spend per customer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36118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pic>
        <p:nvPicPr>
          <p:cNvPr id="15" name="Image 2" descr="/home/claude/ppt/icon_target_E8A33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384048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94192" y="431596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tool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394192" y="464515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classifier (ROC-AUC = 0.863) to rank campaign-response likelihood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55778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DF3E3"/>
          </a:solidFill>
          <a:ln/>
        </p:spPr>
      </p:sp>
      <p:pic>
        <p:nvPicPr>
          <p:cNvPr id="19" name="Image 3" descr="/home/claude/ppt/icon_flag_E8A3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806440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557784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step:  </a:t>
            </a:r>
            <a:r>
              <a:rPr lang="en-US" sz="125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the segment-specific actions on a small, held-out group per segment, and measure incremental revenue and response rate before rolling out company-wide.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with Actionable Business Insights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480560"/>
            <a:ext cx="3108960" cy="310896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4" name="Text 2"/>
          <p:cNvSpPr/>
          <p:nvPr/>
        </p:nvSpPr>
        <p:spPr>
          <a:xfrm>
            <a:off x="624988" y="3108959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1625</Words>
  <Application>Microsoft Office PowerPoint</Application>
  <PresentationFormat>Widescreen</PresentationFormat>
  <Paragraphs>288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Abhishek Chauhan</cp:lastModifiedBy>
  <cp:revision>2</cp:revision>
  <dcterms:created xsi:type="dcterms:W3CDTF">2026-07-17T08:53:14Z</dcterms:created>
  <dcterms:modified xsi:type="dcterms:W3CDTF">2026-07-17T08:58:23Z</dcterms:modified>
</cp:coreProperties>
</file>