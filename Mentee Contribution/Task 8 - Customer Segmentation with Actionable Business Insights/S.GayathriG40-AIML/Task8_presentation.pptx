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8"/>
  </p:notesMasterIdLst>
  <p:sldIdLst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0" r:id="rId18"/>
    <p:sldId id="274" r:id="rId19"/>
    <p:sldId id="275" r:id="rId20"/>
    <p:sldId id="276" r:id="rId21"/>
    <p:sldId id="269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1013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608" y="-242937"/>
            <a:ext cx="10084216" cy="3631831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latin typeface="Broadway" panose="04040905080B02020502" pitchFamily="82" charset="0"/>
              </a:rPr>
              <a:t>Customer Segmentation with Actionable Business Insights</a:t>
            </a:r>
            <a:endParaRPr lang="en-US" sz="4800" dirty="0">
              <a:latin typeface="Broadway" panose="04040905080B020205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608" y="4054642"/>
            <a:ext cx="7178070" cy="2137611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IN" sz="6000" b="1" dirty="0"/>
              <a:t>Task 8 – Machine Learning Project</a:t>
            </a:r>
            <a:endParaRPr lang="en-IN" sz="6000" dirty="0"/>
          </a:p>
          <a:p>
            <a:pPr algn="l"/>
            <a:r>
              <a:rPr lang="en-IN" sz="6000" b="1" dirty="0"/>
              <a:t>Dataset:</a:t>
            </a:r>
            <a:r>
              <a:rPr lang="en-IN" sz="6000" dirty="0"/>
              <a:t> Marketing Campaign (Customer Personality Analysis)</a:t>
            </a:r>
          </a:p>
          <a:p>
            <a:pPr algn="l"/>
            <a:r>
              <a:rPr lang="en-IN" sz="6000" b="1" dirty="0"/>
              <a:t>Presented by:</a:t>
            </a:r>
            <a:br>
              <a:rPr lang="en-IN" sz="6000" dirty="0"/>
            </a:br>
            <a:r>
              <a:rPr lang="en-IN" sz="6000" dirty="0"/>
              <a:t>S. GayathriG40-AIML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>
                <a:latin typeface="Broadway" panose="04040905080B02020502" pitchFamily="82" charset="0"/>
              </a:rPr>
              <a:t>Problem</a:t>
            </a:r>
            <a:r>
              <a:rPr lang="en-IN" dirty="0">
                <a:latin typeface="Bernard MT Condensed" panose="02050806060905020404" pitchFamily="18" charset="0"/>
              </a:rPr>
              <a:t> Statement</a:t>
            </a:r>
            <a:endParaRPr lang="en-US" dirty="0">
              <a:latin typeface="Bernard MT Condensed" panose="02050806060905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Businesses often struggle to understand customer purchasing </a:t>
            </a:r>
            <a:r>
              <a:rPr lang="en-IN" dirty="0" err="1"/>
              <a:t>behavior</a:t>
            </a:r>
            <a:r>
              <a:rPr lang="en-IN" dirty="0"/>
              <a:t>, making it difficult to create effective marketing campaigns.</a:t>
            </a:r>
          </a:p>
          <a:p>
            <a:r>
              <a:rPr lang="en-IN" dirty="0"/>
              <a:t>Without customer segmentation:</a:t>
            </a:r>
          </a:p>
          <a:p>
            <a:r>
              <a:rPr lang="en-IN" dirty="0"/>
              <a:t>Marketing budgets are wasted. </a:t>
            </a:r>
          </a:p>
          <a:p>
            <a:r>
              <a:rPr lang="en-IN" dirty="0"/>
              <a:t>Customer retention decreases. </a:t>
            </a:r>
          </a:p>
          <a:p>
            <a:r>
              <a:rPr lang="en-IN" dirty="0"/>
              <a:t>Personalized recommendations become difficult. </a:t>
            </a:r>
          </a:p>
          <a:p>
            <a:r>
              <a:rPr lang="en-IN" dirty="0"/>
              <a:t>High-value customers are not identified effectively.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5C99-3C21-F1EB-BD74-1958AF01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  <a:t>Proposed Solution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EA74A-FAB1-F946-7D00-6C1DCF457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>
                <a:solidFill>
                  <a:schemeClr val="bg1"/>
                </a:solidFill>
              </a:rPr>
              <a:t>Develop a machine learning-based customer segmentation system using clustering and predictive analytics to support data-driven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88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8D6-BF54-3775-2555-C7D01919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51395" y="312821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A5EE2-4704-C600-7FCA-87E14830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4141" y="1909010"/>
            <a:ext cx="10018713" cy="4347411"/>
          </a:xfrm>
        </p:spPr>
        <p:txBody>
          <a:bodyPr>
            <a:normAutofit/>
          </a:bodyPr>
          <a:lstStyle/>
          <a:p>
            <a:r>
              <a:rPr lang="en-IN" sz="2800" dirty="0" err="1">
                <a:solidFill>
                  <a:schemeClr val="bg1"/>
                </a:solidFill>
              </a:rPr>
              <a:t>Analyze</a:t>
            </a:r>
            <a:r>
              <a:rPr lang="en-IN" sz="2800" dirty="0">
                <a:solidFill>
                  <a:schemeClr val="bg1"/>
                </a:solidFill>
              </a:rPr>
              <a:t> customer purchasing </a:t>
            </a:r>
            <a:r>
              <a:rPr lang="en-IN" sz="2800" dirty="0" err="1">
                <a:solidFill>
                  <a:schemeClr val="bg1"/>
                </a:solidFill>
              </a:rPr>
              <a:t>behavior</a:t>
            </a:r>
            <a:r>
              <a:rPr lang="en-IN" sz="2800" dirty="0">
                <a:solidFill>
                  <a:schemeClr val="bg1"/>
                </a:solidFill>
              </a:rPr>
              <a:t>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Perform Exploratory Data Analysis (EDA).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Build customer segments using K-Means Clustering.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Predict customer spending using Regression.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Predict campaign response using Logistic Regression.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Optimize models using </a:t>
            </a:r>
            <a:r>
              <a:rPr lang="en-IN" sz="2800" dirty="0" err="1">
                <a:solidFill>
                  <a:schemeClr val="bg1"/>
                </a:solidFill>
              </a:rPr>
              <a:t>GridSearchCV</a:t>
            </a:r>
            <a:r>
              <a:rPr lang="en-IN" sz="2800" dirty="0">
                <a:solidFill>
                  <a:schemeClr val="bg1"/>
                </a:solidFill>
              </a:rPr>
              <a:t>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Generate actionable business recommendations.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13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59AF-7083-2D22-FAD1-7D284B94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625642"/>
            <a:ext cx="10018713" cy="257876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  <a:t>Dataset Overview</a:t>
            </a:r>
            <a:b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sz="2800" b="1" dirty="0">
                <a:solidFill>
                  <a:schemeClr val="bg1"/>
                </a:solidFill>
              </a:rPr>
              <a:t>Dataset Name: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Marketing Campaign (Customer Personality Analysis)</a:t>
            </a:r>
            <a:br>
              <a:rPr lang="en-IN" sz="2800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71BFF-309F-C9FE-DCF5-41B0CE9A6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4823184" cy="3878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chemeClr val="bg1"/>
                </a:solidFill>
              </a:rPr>
              <a:t>Features</a:t>
            </a:r>
          </a:p>
          <a:p>
            <a:r>
              <a:rPr lang="en-IN" sz="2800" dirty="0">
                <a:solidFill>
                  <a:schemeClr val="bg1"/>
                </a:solidFill>
              </a:rPr>
              <a:t>Customer Demographics</a:t>
            </a:r>
          </a:p>
          <a:p>
            <a:r>
              <a:rPr lang="en-IN" sz="2800" dirty="0">
                <a:solidFill>
                  <a:schemeClr val="bg1"/>
                </a:solidFill>
              </a:rPr>
              <a:t>Annual Income </a:t>
            </a:r>
          </a:p>
          <a:p>
            <a:r>
              <a:rPr lang="en-IN" sz="2800" dirty="0">
                <a:solidFill>
                  <a:schemeClr val="bg1"/>
                </a:solidFill>
              </a:rPr>
              <a:t>Education </a:t>
            </a:r>
          </a:p>
          <a:p>
            <a:r>
              <a:rPr lang="en-IN" sz="2800" dirty="0">
                <a:solidFill>
                  <a:schemeClr val="bg1"/>
                </a:solidFill>
              </a:rPr>
              <a:t>Marital Status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Website Purchases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93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0C71-FFAE-6D72-08A0-8406F60B4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46909" y="-170727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6E1F2-F97A-A2A9-BDBD-919217DFB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697" y="1370635"/>
            <a:ext cx="3816895" cy="3124201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Store Purchases</a:t>
            </a:r>
          </a:p>
          <a:p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Catalog</a:t>
            </a:r>
            <a:r>
              <a:rPr lang="en-IN" dirty="0">
                <a:solidFill>
                  <a:schemeClr val="bg1"/>
                </a:solidFill>
              </a:rPr>
              <a:t> Purchases </a:t>
            </a:r>
          </a:p>
          <a:p>
            <a:r>
              <a:rPr lang="en-IN" dirty="0">
                <a:solidFill>
                  <a:schemeClr val="bg1"/>
                </a:solidFill>
              </a:rPr>
              <a:t>Product Spending </a:t>
            </a:r>
          </a:p>
          <a:p>
            <a:r>
              <a:rPr lang="en-IN" dirty="0">
                <a:solidFill>
                  <a:schemeClr val="bg1"/>
                </a:solidFill>
              </a:rPr>
              <a:t>Campaign Response </a:t>
            </a:r>
          </a:p>
          <a:p>
            <a:r>
              <a:rPr lang="en-IN" dirty="0">
                <a:solidFill>
                  <a:schemeClr val="bg1"/>
                </a:solidFill>
              </a:rPr>
              <a:t>Recency</a:t>
            </a:r>
          </a:p>
          <a:p>
            <a:r>
              <a:rPr lang="en-IN" dirty="0">
                <a:solidFill>
                  <a:schemeClr val="bg1"/>
                </a:solidFill>
              </a:rPr>
              <a:t> Customer Complaints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14E6C-ABB1-7648-A222-433884B40D6A}"/>
              </a:ext>
            </a:extLst>
          </p:cNvPr>
          <p:cNvSpPr txBox="1"/>
          <p:nvPr/>
        </p:nvSpPr>
        <p:spPr>
          <a:xfrm>
            <a:off x="8297672" y="3083849"/>
            <a:ext cx="30325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</a:rPr>
              <a:t>Age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</a:rPr>
              <a:t>Children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</a:rPr>
              <a:t>Total Spending 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40A34-CF30-8D1F-77C0-D92C3D297F7E}"/>
              </a:ext>
            </a:extLst>
          </p:cNvPr>
          <p:cNvSpPr txBox="1"/>
          <p:nvPr/>
        </p:nvSpPr>
        <p:spPr>
          <a:xfrm>
            <a:off x="7905509" y="2129742"/>
            <a:ext cx="3816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Feature Engineering</a:t>
            </a:r>
          </a:p>
          <a:p>
            <a:r>
              <a:rPr lang="en-IN" sz="2800" dirty="0">
                <a:solidFill>
                  <a:schemeClr val="bg1"/>
                </a:solidFill>
              </a:rPr>
              <a:t>Created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3272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30E4-DF59-A260-4C4D-5390F7D6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8028" y="0"/>
            <a:ext cx="10018713" cy="1752599"/>
          </a:xfrm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2DAAA-EEF2-0FA0-72D8-09C5427C3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397" y="648183"/>
            <a:ext cx="9578874" cy="566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2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9363-FD3F-AA32-B319-8C9F9B3C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9684" y="188089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Exploratory Data</a:t>
            </a:r>
            <a:b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4A148-4E3D-FC0B-6543-C170554F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58" y="1655180"/>
            <a:ext cx="10018713" cy="5202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Performed</a:t>
            </a:r>
          </a:p>
          <a:p>
            <a:r>
              <a:rPr lang="en-IN" dirty="0">
                <a:solidFill>
                  <a:schemeClr val="bg1"/>
                </a:solidFill>
              </a:rPr>
              <a:t>Missing Value Analysis </a:t>
            </a:r>
          </a:p>
          <a:p>
            <a:r>
              <a:rPr lang="en-IN" dirty="0">
                <a:solidFill>
                  <a:schemeClr val="bg1"/>
                </a:solidFill>
              </a:rPr>
              <a:t>Duplicate Removal </a:t>
            </a:r>
          </a:p>
          <a:p>
            <a:r>
              <a:rPr lang="en-IN" dirty="0">
                <a:solidFill>
                  <a:schemeClr val="bg1"/>
                </a:solidFill>
              </a:rPr>
              <a:t>Statistical Summary </a:t>
            </a:r>
          </a:p>
          <a:p>
            <a:r>
              <a:rPr lang="en-IN" dirty="0">
                <a:solidFill>
                  <a:schemeClr val="bg1"/>
                </a:solidFill>
              </a:rPr>
              <a:t>Distribution Analysis </a:t>
            </a:r>
          </a:p>
          <a:p>
            <a:r>
              <a:rPr lang="en-IN" dirty="0">
                <a:solidFill>
                  <a:schemeClr val="bg1"/>
                </a:solidFill>
              </a:rPr>
              <a:t>Correlation Analysis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11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09B5-DFAB-1763-3815-D4D9574B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27396" y="0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10556-B984-AF67-A90C-1A96E27E0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1139" y="2157714"/>
            <a:ext cx="6991109" cy="403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2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527C-26CA-BA33-80FA-31F259FE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2914" y="0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Correlation Heatmap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C62D57-44F8-3095-43E9-4BD511838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6442" y="1648428"/>
            <a:ext cx="6088283" cy="404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30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4800-2F99-E733-7B01-3BD9F831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4246" y="190500"/>
            <a:ext cx="10018713" cy="17525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  <a:t>Cluster-wise </a:t>
            </a:r>
            <a:b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  <a:t>Customer Count</a:t>
            </a: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98AE68-DDDE-7F85-F795-AB527139D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2288" y="2222339"/>
            <a:ext cx="6699327" cy="414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6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06D4-6AD9-01CB-39ED-63DCEF2CB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013" y="127321"/>
            <a:ext cx="10018713" cy="1752599"/>
          </a:xfrm>
        </p:spPr>
        <p:txBody>
          <a:bodyPr/>
          <a:lstStyle/>
          <a:p>
            <a:pPr algn="l"/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Data </a:t>
            </a:r>
            <a:b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53BAB-1EB9-6369-8855-135E6B14B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0563" y="1752599"/>
            <a:ext cx="10018713" cy="51054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Steps</a:t>
            </a:r>
          </a:p>
          <a:p>
            <a:r>
              <a:rPr lang="en-IN" dirty="0">
                <a:solidFill>
                  <a:schemeClr val="bg1"/>
                </a:solidFill>
              </a:rPr>
              <a:t>Removed duplicate records </a:t>
            </a:r>
          </a:p>
          <a:p>
            <a:r>
              <a:rPr lang="en-IN" dirty="0">
                <a:solidFill>
                  <a:schemeClr val="bg1"/>
                </a:solidFill>
              </a:rPr>
              <a:t>Filled missing Income values </a:t>
            </a:r>
          </a:p>
          <a:p>
            <a:r>
              <a:rPr lang="en-IN" dirty="0">
                <a:solidFill>
                  <a:schemeClr val="bg1"/>
                </a:solidFill>
              </a:rPr>
              <a:t>Encoded categorical variables </a:t>
            </a:r>
          </a:p>
          <a:p>
            <a:r>
              <a:rPr lang="en-IN" dirty="0">
                <a:solidFill>
                  <a:schemeClr val="bg1"/>
                </a:solidFill>
              </a:rPr>
              <a:t>Standardized numerical features </a:t>
            </a:r>
          </a:p>
          <a:p>
            <a:r>
              <a:rPr lang="en-IN" dirty="0">
                <a:solidFill>
                  <a:schemeClr val="bg1"/>
                </a:solidFill>
              </a:rPr>
              <a:t>Created Total Spending feature </a:t>
            </a:r>
          </a:p>
          <a:p>
            <a:r>
              <a:rPr lang="en-IN" dirty="0">
                <a:solidFill>
                  <a:schemeClr val="bg1"/>
                </a:solidFill>
              </a:rPr>
              <a:t>Created Age feature </a:t>
            </a:r>
          </a:p>
          <a:p>
            <a:r>
              <a:rPr lang="en-IN" dirty="0">
                <a:solidFill>
                  <a:schemeClr val="bg1"/>
                </a:solidFill>
              </a:rPr>
              <a:t>Created Children feature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Tools Used</a:t>
            </a:r>
          </a:p>
          <a:p>
            <a:r>
              <a:rPr lang="en-IN" dirty="0" err="1">
                <a:solidFill>
                  <a:schemeClr val="bg1"/>
                </a:solidFill>
              </a:rPr>
              <a:t>LabelEncoder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r>
              <a:rPr lang="en-IN" dirty="0" err="1">
                <a:solidFill>
                  <a:schemeClr val="bg1"/>
                </a:solidFill>
              </a:rPr>
              <a:t>StandardScaler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97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8C39-A3F9-EDFA-8E52-5A9349FD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pPr algn="l"/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Customer</a:t>
            </a:r>
            <a:b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9E9DA-3E13-4F0A-0DFC-00EC7F69A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63" y="1806133"/>
            <a:ext cx="10018713" cy="48613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K-Means Clustering</a:t>
            </a:r>
          </a:p>
          <a:p>
            <a:r>
              <a:rPr lang="en-IN" b="1" dirty="0">
                <a:solidFill>
                  <a:schemeClr val="bg1"/>
                </a:solidFill>
              </a:rPr>
              <a:t>Cluster Selection</a:t>
            </a:r>
          </a:p>
          <a:p>
            <a:r>
              <a:rPr lang="en-IN" dirty="0">
                <a:solidFill>
                  <a:schemeClr val="bg1"/>
                </a:solidFill>
              </a:rPr>
              <a:t>Elbow Method </a:t>
            </a:r>
          </a:p>
          <a:p>
            <a:r>
              <a:rPr lang="en-IN" dirty="0">
                <a:solidFill>
                  <a:schemeClr val="bg1"/>
                </a:solidFill>
              </a:rPr>
              <a:t>Silhouette Score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Clustering Features</a:t>
            </a:r>
          </a:p>
          <a:p>
            <a:r>
              <a:rPr lang="en-IN" dirty="0">
                <a:solidFill>
                  <a:schemeClr val="bg1"/>
                </a:solidFill>
              </a:rPr>
              <a:t>Income </a:t>
            </a:r>
          </a:p>
          <a:p>
            <a:r>
              <a:rPr lang="en-IN" dirty="0">
                <a:solidFill>
                  <a:schemeClr val="bg1"/>
                </a:solidFill>
              </a:rPr>
              <a:t>Total Spending </a:t>
            </a:r>
          </a:p>
          <a:p>
            <a:r>
              <a:rPr lang="en-IN" dirty="0">
                <a:solidFill>
                  <a:schemeClr val="bg1"/>
                </a:solidFill>
              </a:rPr>
              <a:t>Recency </a:t>
            </a:r>
          </a:p>
          <a:p>
            <a:r>
              <a:rPr lang="en-IN" dirty="0">
                <a:solidFill>
                  <a:schemeClr val="bg1"/>
                </a:solidFill>
              </a:rPr>
              <a:t>Website Purchases </a:t>
            </a:r>
          </a:p>
          <a:p>
            <a:r>
              <a:rPr lang="en-IN" dirty="0">
                <a:solidFill>
                  <a:schemeClr val="bg1"/>
                </a:solidFill>
              </a:rPr>
              <a:t>Store Purchases </a:t>
            </a:r>
          </a:p>
          <a:p>
            <a:r>
              <a:rPr lang="en-IN" dirty="0" err="1">
                <a:solidFill>
                  <a:schemeClr val="bg1"/>
                </a:solidFill>
              </a:rPr>
              <a:t>Catalog</a:t>
            </a:r>
            <a:r>
              <a:rPr lang="en-IN" dirty="0">
                <a:solidFill>
                  <a:schemeClr val="bg1"/>
                </a:solidFill>
              </a:rPr>
              <a:t> Purchases </a:t>
            </a:r>
          </a:p>
          <a:p>
            <a:r>
              <a:rPr lang="en-IN" dirty="0">
                <a:solidFill>
                  <a:schemeClr val="bg1"/>
                </a:solidFill>
              </a:rPr>
              <a:t>Age </a:t>
            </a:r>
          </a:p>
          <a:p>
            <a:r>
              <a:rPr lang="en-IN" dirty="0">
                <a:solidFill>
                  <a:schemeClr val="bg1"/>
                </a:solidFill>
              </a:rPr>
              <a:t>Children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605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4DDC-6AF4-028F-6E05-FC2EE4F6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00074" y="190500"/>
            <a:ext cx="10018713" cy="17525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  <a:t>Customer Segments</a:t>
            </a:r>
            <a:b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  <a:t> using PCA</a:t>
            </a: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7F597-6F1F-5283-3715-51E97501E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3738" y="1943099"/>
            <a:ext cx="7106854" cy="407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30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F844-6652-D883-3750-D242ED28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07065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CAC0-6358-1550-A4D8-1804D103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171" y="2129742"/>
            <a:ext cx="10018713" cy="43405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bg1"/>
                </a:solidFill>
              </a:rPr>
              <a:t>Spending Prediction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Models Used</a:t>
            </a:r>
          </a:p>
          <a:p>
            <a:r>
              <a:rPr lang="en-IN" dirty="0">
                <a:solidFill>
                  <a:schemeClr val="bg1"/>
                </a:solidFill>
              </a:rPr>
              <a:t>Linear Regression </a:t>
            </a:r>
          </a:p>
          <a:p>
            <a:r>
              <a:rPr lang="en-IN" dirty="0">
                <a:solidFill>
                  <a:schemeClr val="bg1"/>
                </a:solidFill>
              </a:rPr>
              <a:t>Ridge Regression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Evaluation Metrics</a:t>
            </a:r>
          </a:p>
          <a:p>
            <a:r>
              <a:rPr lang="en-IN" dirty="0">
                <a:solidFill>
                  <a:schemeClr val="bg1"/>
                </a:solidFill>
              </a:rPr>
              <a:t>Mean Absolute Error (MAE) </a:t>
            </a:r>
          </a:p>
          <a:p>
            <a:r>
              <a:rPr lang="en-IN" dirty="0">
                <a:solidFill>
                  <a:schemeClr val="bg1"/>
                </a:solidFill>
              </a:rPr>
              <a:t>Mean Squared Error (MSE) </a:t>
            </a:r>
          </a:p>
          <a:p>
            <a:r>
              <a:rPr lang="en-IN" dirty="0">
                <a:solidFill>
                  <a:schemeClr val="bg1"/>
                </a:solidFill>
              </a:rPr>
              <a:t>Root Mean Squared Error (RMSE) </a:t>
            </a:r>
          </a:p>
          <a:p>
            <a:r>
              <a:rPr lang="en-IN" dirty="0">
                <a:solidFill>
                  <a:schemeClr val="bg1"/>
                </a:solidFill>
              </a:rPr>
              <a:t>R² Score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Observation</a:t>
            </a:r>
          </a:p>
          <a:p>
            <a:r>
              <a:rPr lang="en-IN" dirty="0">
                <a:solidFill>
                  <a:schemeClr val="bg1"/>
                </a:solidFill>
              </a:rPr>
              <a:t>Ridge Regression reduced overfitting while maintaining good prediction accuracy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437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D137-6CBA-244D-CA96-EADB944A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7993" y="0"/>
            <a:ext cx="10018713" cy="17525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  <a:t>Actual vs Predicted</a:t>
            </a: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75B43F-5E6B-F79B-B7A3-C49B96EFF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483" y="1555830"/>
            <a:ext cx="6921660" cy="474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58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64BA-997D-9611-8C4E-91E36247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64" y="280686"/>
            <a:ext cx="10018713" cy="1752599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  <a:t>Classification Model</a:t>
            </a:r>
            <a:b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sz="3100" b="1" dirty="0">
                <a:solidFill>
                  <a:schemeClr val="bg1"/>
                </a:solidFill>
                <a:latin typeface="Broadway" panose="04040905080B02020502" pitchFamily="82" charset="0"/>
              </a:rPr>
              <a:t>Campaign Response Prediction</a:t>
            </a:r>
            <a:b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036D-0B54-FD59-8325-5F2CA90F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5398" y="1493134"/>
            <a:ext cx="10018713" cy="51883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Model</a:t>
            </a:r>
          </a:p>
          <a:p>
            <a:r>
              <a:rPr lang="en-IN" dirty="0">
                <a:solidFill>
                  <a:schemeClr val="bg1"/>
                </a:solidFill>
              </a:rPr>
              <a:t>Logistic Regression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Hyperparameter Optimization</a:t>
            </a:r>
          </a:p>
          <a:p>
            <a:r>
              <a:rPr lang="en-IN" dirty="0" err="1">
                <a:solidFill>
                  <a:schemeClr val="bg1"/>
                </a:solidFill>
              </a:rPr>
              <a:t>GridSearchCV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Evaluation Metrics</a:t>
            </a:r>
          </a:p>
          <a:p>
            <a:r>
              <a:rPr lang="en-IN" dirty="0">
                <a:solidFill>
                  <a:schemeClr val="bg1"/>
                </a:solidFill>
              </a:rPr>
              <a:t>Accuracy </a:t>
            </a:r>
          </a:p>
          <a:p>
            <a:r>
              <a:rPr lang="en-IN" dirty="0">
                <a:solidFill>
                  <a:schemeClr val="bg1"/>
                </a:solidFill>
              </a:rPr>
              <a:t>Precision </a:t>
            </a:r>
          </a:p>
          <a:p>
            <a:r>
              <a:rPr lang="en-IN" dirty="0">
                <a:solidFill>
                  <a:schemeClr val="bg1"/>
                </a:solidFill>
              </a:rPr>
              <a:t>Recall </a:t>
            </a:r>
          </a:p>
          <a:p>
            <a:r>
              <a:rPr lang="en-IN" dirty="0">
                <a:solidFill>
                  <a:schemeClr val="bg1"/>
                </a:solidFill>
              </a:rPr>
              <a:t>F1-Score </a:t>
            </a:r>
          </a:p>
          <a:p>
            <a:r>
              <a:rPr lang="en-IN" dirty="0">
                <a:solidFill>
                  <a:schemeClr val="bg1"/>
                </a:solidFill>
              </a:rPr>
              <a:t>ROC-AUC Score </a:t>
            </a:r>
          </a:p>
          <a:p>
            <a:r>
              <a:rPr lang="en-IN" dirty="0">
                <a:solidFill>
                  <a:schemeClr val="bg1"/>
                </a:solidFill>
              </a:rPr>
              <a:t>Confusion Matrix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Result</a:t>
            </a:r>
          </a:p>
          <a:p>
            <a:r>
              <a:rPr lang="en-IN" dirty="0">
                <a:solidFill>
                  <a:schemeClr val="bg1"/>
                </a:solidFill>
              </a:rPr>
              <a:t>The optimized Logistic Regression model effectively predicts customers who are likely to respond to future marketing campaigns.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5520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77FC-292E-A111-DBE5-866D8B6C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4327" y="190500"/>
            <a:ext cx="10018713" cy="17525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roadway" panose="04040905080B02020502" pitchFamily="82" charset="0"/>
              </a:rPr>
              <a:t>Confusion Matrix</a:t>
            </a: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A729BC-E175-3B02-9190-03AF5E137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4842" y="1943099"/>
            <a:ext cx="6655442" cy="384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3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E0CB-8950-111F-4112-8DE32A42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713" y="725347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Model Comparison</a:t>
            </a:r>
            <a:b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sz="2700" dirty="0">
                <a:solidFill>
                  <a:schemeClr val="bg1"/>
                </a:solidFill>
                <a:latin typeface="Broadway" panose="04040905080B02020502" pitchFamily="82" charset="0"/>
              </a:rPr>
              <a:t>Model performance</a:t>
            </a:r>
            <a:b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4E4918-B4F6-3DAF-D333-F5810AD4B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760721"/>
              </p:ext>
            </p:extLst>
          </p:nvPr>
        </p:nvGraphicFramePr>
        <p:xfrm>
          <a:off x="1634784" y="2292751"/>
          <a:ext cx="10018713" cy="2488555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339571">
                  <a:extLst>
                    <a:ext uri="{9D8B030D-6E8A-4147-A177-3AD203B41FA5}">
                      <a16:colId xmlns:a16="http://schemas.microsoft.com/office/drawing/2014/main" val="3502898446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159897070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27443370"/>
                    </a:ext>
                  </a:extLst>
                </a:gridCol>
              </a:tblGrid>
              <a:tr h="497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871028"/>
                  </a:ext>
                </a:extLst>
              </a:tr>
              <a:tr h="497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K-Means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Customer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Silhouette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91077"/>
                  </a:ext>
                </a:extLst>
              </a:tr>
              <a:tr h="497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Spending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R², 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010200"/>
                  </a:ext>
                </a:extLst>
              </a:tr>
              <a:tr h="497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Ridge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Spending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Improved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189822"/>
                  </a:ext>
                </a:extLst>
              </a:tr>
              <a:tr h="497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Campaign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Accuracy, F1, 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9284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D92155-935E-1A0B-8CCA-0A4BE276DDB9}"/>
              </a:ext>
            </a:extLst>
          </p:cNvPr>
          <p:cNvSpPr txBox="1"/>
          <p:nvPr/>
        </p:nvSpPr>
        <p:spPr>
          <a:xfrm>
            <a:off x="2905246" y="5081286"/>
            <a:ext cx="5359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Selected Models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</a:rPr>
              <a:t>K-Means for Segmentation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</a:rPr>
              <a:t>Ridge Regression for Spending Prediction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</a:rPr>
              <a:t>Logistic Regression for Campaign Response </a:t>
            </a:r>
          </a:p>
        </p:txBody>
      </p:sp>
    </p:spTree>
    <p:extLst>
      <p:ext uri="{BB962C8B-B14F-4D97-AF65-F5344CB8AC3E}">
        <p14:creationId xmlns:p14="http://schemas.microsoft.com/office/powerpoint/2010/main" val="1670124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FD0A-A35B-EFFE-BAC9-C42712B4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298" y="405114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  <a:t>Business </a:t>
            </a:r>
            <a:b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</a:br>
            <a:r>
              <a:rPr lang="en-IN" b="1" dirty="0">
                <a:solidFill>
                  <a:schemeClr val="bg1"/>
                </a:solidFill>
                <a:latin typeface="Broadway" panose="04040905080B02020502" pitchFamily="82" charset="0"/>
              </a:rPr>
              <a:t>Insights</a:t>
            </a:r>
            <a:endParaRPr lang="en-IN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BF8A0-0E4E-B65A-38A3-70D3E8516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976" y="1441048"/>
            <a:ext cx="10018713" cy="50118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High-Value Customers</a:t>
            </a:r>
          </a:p>
          <a:p>
            <a:r>
              <a:rPr lang="en-IN" dirty="0">
                <a:solidFill>
                  <a:schemeClr val="bg1"/>
                </a:solidFill>
              </a:rPr>
              <a:t>Premium memberships </a:t>
            </a:r>
          </a:p>
          <a:p>
            <a:r>
              <a:rPr lang="en-IN" dirty="0">
                <a:solidFill>
                  <a:schemeClr val="bg1"/>
                </a:solidFill>
              </a:rPr>
              <a:t>Exclusive offers </a:t>
            </a:r>
          </a:p>
          <a:p>
            <a:r>
              <a:rPr lang="en-IN" dirty="0">
                <a:solidFill>
                  <a:schemeClr val="bg1"/>
                </a:solidFill>
              </a:rPr>
              <a:t>Early access to new products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Regular Customers</a:t>
            </a:r>
          </a:p>
          <a:p>
            <a:r>
              <a:rPr lang="en-IN" dirty="0">
                <a:solidFill>
                  <a:schemeClr val="bg1"/>
                </a:solidFill>
              </a:rPr>
              <a:t>Loyalty rewards </a:t>
            </a:r>
          </a:p>
          <a:p>
            <a:r>
              <a:rPr lang="en-IN" dirty="0">
                <a:solidFill>
                  <a:schemeClr val="bg1"/>
                </a:solidFill>
              </a:rPr>
              <a:t>Product recommendations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Potential Customers</a:t>
            </a:r>
          </a:p>
          <a:p>
            <a:r>
              <a:rPr lang="en-IN" dirty="0">
                <a:solidFill>
                  <a:schemeClr val="bg1"/>
                </a:solidFill>
              </a:rPr>
              <a:t>Welcome campaigns </a:t>
            </a:r>
          </a:p>
          <a:p>
            <a:r>
              <a:rPr lang="en-IN" dirty="0">
                <a:solidFill>
                  <a:schemeClr val="bg1"/>
                </a:solidFill>
              </a:rPr>
              <a:t>Personalized discounts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At-Risk Customers</a:t>
            </a:r>
          </a:p>
          <a:p>
            <a:r>
              <a:rPr lang="en-IN" dirty="0">
                <a:solidFill>
                  <a:schemeClr val="bg1"/>
                </a:solidFill>
              </a:rPr>
              <a:t>Re-engagement emails </a:t>
            </a:r>
          </a:p>
          <a:p>
            <a:r>
              <a:rPr lang="en-IN" dirty="0">
                <a:solidFill>
                  <a:schemeClr val="bg1"/>
                </a:solidFill>
              </a:rPr>
              <a:t>Special promotional offers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984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D9D5-1BFB-D453-1200-57F115CD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90382" y="442732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1D5D1-1CA5-593B-0FA0-6165E9085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125" y="2195331"/>
            <a:ext cx="10018713" cy="3124201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Successfully segmented customers using K-Means Clustering. </a:t>
            </a:r>
          </a:p>
          <a:p>
            <a:r>
              <a:rPr lang="en-IN" dirty="0">
                <a:solidFill>
                  <a:schemeClr val="bg1"/>
                </a:solidFill>
              </a:rPr>
              <a:t>Built regression and classification models. </a:t>
            </a:r>
          </a:p>
          <a:p>
            <a:r>
              <a:rPr lang="en-IN" dirty="0">
                <a:solidFill>
                  <a:schemeClr val="bg1"/>
                </a:solidFill>
              </a:rPr>
              <a:t>Optimized models using </a:t>
            </a:r>
            <a:r>
              <a:rPr lang="en-IN" dirty="0" err="1">
                <a:solidFill>
                  <a:schemeClr val="bg1"/>
                </a:solidFill>
              </a:rPr>
              <a:t>GridSearchCV</a:t>
            </a:r>
            <a:r>
              <a:rPr lang="en-IN" dirty="0">
                <a:solidFill>
                  <a:schemeClr val="bg1"/>
                </a:solidFill>
              </a:rPr>
              <a:t>. </a:t>
            </a:r>
          </a:p>
          <a:p>
            <a:r>
              <a:rPr lang="en-IN" dirty="0">
                <a:solidFill>
                  <a:schemeClr val="bg1"/>
                </a:solidFill>
              </a:rPr>
              <a:t>Generated actionable business recommendations. </a:t>
            </a:r>
          </a:p>
          <a:p>
            <a:r>
              <a:rPr lang="en-IN" dirty="0">
                <a:solidFill>
                  <a:schemeClr val="bg1"/>
                </a:solidFill>
              </a:rPr>
              <a:t>Demonstrated how machine learning supports data-driven marketing.</a:t>
            </a:r>
          </a:p>
        </p:txBody>
      </p:sp>
    </p:spTree>
    <p:extLst>
      <p:ext uri="{BB962C8B-B14F-4D97-AF65-F5344CB8AC3E}">
        <p14:creationId xmlns:p14="http://schemas.microsoft.com/office/powerpoint/2010/main" val="822164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2D25-502E-140F-EC47-4ACE5DE0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69" y="697375"/>
            <a:ext cx="10018713" cy="175259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roadway" panose="04040905080B02020502" pitchFamily="82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C8EC-0812-F164-4178-BAC7FF5EB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045" y="2308184"/>
            <a:ext cx="10018713" cy="3124201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Real-time customer segmentation </a:t>
            </a:r>
          </a:p>
          <a:p>
            <a:r>
              <a:rPr lang="en-IN" dirty="0">
                <a:solidFill>
                  <a:schemeClr val="bg1"/>
                </a:solidFill>
              </a:rPr>
              <a:t>Deep learning models </a:t>
            </a:r>
          </a:p>
          <a:p>
            <a:r>
              <a:rPr lang="en-IN" dirty="0">
                <a:solidFill>
                  <a:schemeClr val="bg1"/>
                </a:solidFill>
              </a:rPr>
              <a:t>Customer Lifetime Value prediction </a:t>
            </a:r>
          </a:p>
          <a:p>
            <a:r>
              <a:rPr lang="en-IN" dirty="0">
                <a:solidFill>
                  <a:schemeClr val="bg1"/>
                </a:solidFill>
              </a:rPr>
              <a:t>Cloud deployment </a:t>
            </a:r>
          </a:p>
          <a:p>
            <a:r>
              <a:rPr lang="en-IN" dirty="0">
                <a:solidFill>
                  <a:schemeClr val="bg1"/>
                </a:solidFill>
              </a:rPr>
              <a:t>Integration with CRM systems</a:t>
            </a:r>
          </a:p>
        </p:txBody>
      </p:sp>
    </p:spTree>
    <p:extLst>
      <p:ext uri="{BB962C8B-B14F-4D97-AF65-F5344CB8AC3E}">
        <p14:creationId xmlns:p14="http://schemas.microsoft.com/office/powerpoint/2010/main" val="633311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B738-7513-962A-C00D-591834D6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727" y="2329405"/>
            <a:ext cx="10018713" cy="1752599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roadway" panose="04040905080B02020502" pitchFamily="82" charset="0"/>
              </a:rPr>
              <a:t>Thank You.!</a:t>
            </a:r>
            <a:endParaRPr lang="en-IN" sz="54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44D0-3D1E-CD76-A09A-5CC7CAA25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935" y="3984585"/>
            <a:ext cx="10018713" cy="3124201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Presented by: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S. GayathriG40-AIML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276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 design</Template>
  <TotalTime>60</TotalTime>
  <Words>506</Words>
  <Application>Microsoft Office PowerPoint</Application>
  <PresentationFormat>Widescreen</PresentationFormat>
  <Paragraphs>156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Bernard MT Condensed</vt:lpstr>
      <vt:lpstr>Broadway</vt:lpstr>
      <vt:lpstr>Calibri</vt:lpstr>
      <vt:lpstr>Corbel</vt:lpstr>
      <vt:lpstr>Wingdings</vt:lpstr>
      <vt:lpstr>Parallax</vt:lpstr>
      <vt:lpstr>Customer Segmentation with Actionable Business Insights</vt:lpstr>
      <vt:lpstr>Problem Statement</vt:lpstr>
      <vt:lpstr>Proposed Solution </vt:lpstr>
      <vt:lpstr>Objectives</vt:lpstr>
      <vt:lpstr>Dataset Overview Dataset Name: Marketing Campaign (Customer Personality Analysis)  </vt:lpstr>
      <vt:lpstr>Features</vt:lpstr>
      <vt:lpstr>PowerPoint Presentation</vt:lpstr>
      <vt:lpstr>Exploratory Data  Analysis</vt:lpstr>
      <vt:lpstr>Visualizations</vt:lpstr>
      <vt:lpstr>Correlation Heatmap</vt:lpstr>
      <vt:lpstr>Cluster-wise  Customer Count</vt:lpstr>
      <vt:lpstr>Data  Preprocessing</vt:lpstr>
      <vt:lpstr>Customer  Segmentation</vt:lpstr>
      <vt:lpstr>Customer Segments  using PCA</vt:lpstr>
      <vt:lpstr>Regression Models</vt:lpstr>
      <vt:lpstr>Actual vs Predicted</vt:lpstr>
      <vt:lpstr>Classification Model Campaign Response Prediction </vt:lpstr>
      <vt:lpstr>Confusion Matrix</vt:lpstr>
      <vt:lpstr>Model Comparison Model performance </vt:lpstr>
      <vt:lpstr>Business  Insights</vt:lpstr>
      <vt:lpstr>Conclusion </vt:lpstr>
      <vt:lpstr>Future Scope</vt:lpstr>
      <vt:lpstr>Thank You.!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Gayathri</dc:creator>
  <cp:lastModifiedBy>S Gayathri</cp:lastModifiedBy>
  <cp:revision>1</cp:revision>
  <dcterms:created xsi:type="dcterms:W3CDTF">2026-07-11T18:26:06Z</dcterms:created>
  <dcterms:modified xsi:type="dcterms:W3CDTF">2026-07-11T19:26:38Z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