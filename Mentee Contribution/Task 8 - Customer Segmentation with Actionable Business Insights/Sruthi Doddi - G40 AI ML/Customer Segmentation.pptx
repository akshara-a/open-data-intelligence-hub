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Montserrat ExtraBold"/>
      <p:bold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C640F3-3920-4320-9151-E906E0901208}">
  <a:tblStyle styleId="{4CC640F3-3920-4320-9151-E906E090120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ExtraBold-bold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ExtraBold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34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1.png"/><Relationship Id="rId13" Type="http://schemas.openxmlformats.org/officeDocument/2006/relationships/image" Target="../media/image10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7.png"/><Relationship Id="rId9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38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6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51.png"/><Relationship Id="rId13" Type="http://schemas.openxmlformats.org/officeDocument/2006/relationships/image" Target="../media/image52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9" Type="http://schemas.openxmlformats.org/officeDocument/2006/relationships/image" Target="../media/image5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9.png"/><Relationship Id="rId6" Type="http://schemas.openxmlformats.org/officeDocument/2006/relationships/image" Target="../media/image49.png"/><Relationship Id="rId7" Type="http://schemas.openxmlformats.org/officeDocument/2006/relationships/image" Target="../media/image41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6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5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8.png"/><Relationship Id="rId5" Type="http://schemas.openxmlformats.org/officeDocument/2006/relationships/image" Target="../media/image40.png"/><Relationship Id="rId6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2028973"/>
            <a:ext cx="857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EXECUTIVE STRATEGY PRESENTATION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432744"/>
            <a:ext cx="9001125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Customer Segmentation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284190"/>
            <a:ext cx="7620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Driving Sustainable Revenue Growth &amp; Target ROI Through Data-Driven Behavioral Insights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6429375"/>
            <a:ext cx="1104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BI &amp; Analytics Group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982200" y="6429375"/>
            <a:ext cx="1447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Corporate Strategy • 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33450" y="4257526"/>
            <a:ext cx="84010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33450" y="4493716"/>
            <a:ext cx="84010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Sruthi Doddi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91804"/>
            <a:ext cx="5143500" cy="300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291804"/>
            <a:ext cx="5143500" cy="1769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51870"/>
            <a:ext cx="2500312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4251870"/>
            <a:ext cx="2500312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058525" y="642937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2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00825" y="2606129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Core Strategy Questions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381125" y="2606129"/>
            <a:ext cx="44205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rPr>
              <a:t>Untapped Potential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76325" y="3015704"/>
            <a:ext cx="4514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Inter Medium"/>
                <a:ea typeface="Inter Medium"/>
                <a:cs typeface="Inter Medium"/>
                <a:sym typeface="Inter Medium"/>
              </a:rPr>
              <a:t>46% of our 8,442 registered customers have zero lifetime purchases. This leads to extremely inefficient marketing spend and slower overall revenue scale.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90600" y="4518570"/>
            <a:ext cx="20431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C26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8,442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90600" y="4918620"/>
            <a:ext cx="20431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CUSTOMERS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633787" y="4518570"/>
            <a:ext cx="20431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F444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46.0%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633787" y="4918620"/>
            <a:ext cx="20431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ZERO-BUYER CHURN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00825" y="3053804"/>
            <a:ext cx="451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Who exactly are our high-value target profiles and how do we duplicate them?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00825" y="3606254"/>
            <a:ext cx="451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What psychological boundaries stop 46% of customers from ever purchasing?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00825" y="4158704"/>
            <a:ext cx="451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How do we deploy context-aware, targeted campaigns to scale ROI?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6325" y="262994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Business Problem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76512"/>
            <a:ext cx="33654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576512"/>
            <a:ext cx="33654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76512"/>
            <a:ext cx="336559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3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87178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057275" y="3576637"/>
            <a:ext cx="18402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1. Group Behavior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057275" y="3919537"/>
            <a:ext cx="2774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 structured customer segments using clustering models to classify users based on individual activity, session value, and dynamic touchpoints.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87178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4708475" y="3576637"/>
            <a:ext cx="20902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2. Predict Spending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708475" y="3919537"/>
            <a:ext cx="2774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an enterprise regression workflow to dynamically forecast future customer lifetime value and product-specific order potential.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87178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359675" y="3576637"/>
            <a:ext cx="22602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3. Predict Conversion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59675" y="3919537"/>
            <a:ext cx="27750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Construct high-precision binary classifiers to predict real-time session conversion likelihood and isolate churn risks before they happen.</a:t>
            </a:r>
            <a:endParaRPr/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71575" y="30146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51350" y="30146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02550" y="30146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Strategic Project Objectives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38400"/>
            <a:ext cx="2488406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8531" y="2438400"/>
            <a:ext cx="2488406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438400"/>
            <a:ext cx="2488406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1593" y="2438400"/>
            <a:ext cx="2488406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867150"/>
            <a:ext cx="51435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4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90600" y="2705100"/>
            <a:ext cx="20312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$10.12M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90600" y="3105150"/>
            <a:ext cx="20312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REVENUE (2024)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3717131" y="2705100"/>
            <a:ext cx="20312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$1,198.21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3717131" y="3105150"/>
            <a:ext cx="20312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AVG. VALUE / CUSTOMER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443662" y="2705100"/>
            <a:ext cx="20312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49.4%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443662" y="3105150"/>
            <a:ext cx="20312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CONVERSION RATE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170193" y="2705100"/>
            <a:ext cx="20312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4.0 / 5.0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170193" y="3105150"/>
            <a:ext cx="20312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CUSTOMER RATING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762000" y="3867150"/>
            <a:ext cx="5400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Data Completeness Profile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762000" y="4238625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modeling database encapsulates over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25,000 continuous user sessions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from 2024. This rich dataset captures 29 unique features per session, covering demographics, real-time in-app browsing behaviors, dynamic cart values, and historical touchpoints.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477000" y="4052887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Data Security &amp; Governance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477000" y="4372867"/>
            <a:ext cx="48006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65F46"/>
                </a:solidFill>
                <a:latin typeface="Inter Medium"/>
                <a:ea typeface="Inter Medium"/>
                <a:cs typeface="Inter Medium"/>
                <a:sym typeface="Inter Medium"/>
              </a:rPr>
              <a:t>All transactional values have undergone feature scaling and standard normalization steps to protect client privacy while securing absolute statistical accuracy across algorithmic segments.</a:t>
            </a:r>
            <a:endParaRPr/>
          </a:p>
        </p:txBody>
      </p:sp>
      <p:pic>
        <p:nvPicPr>
          <p:cNvPr descr="image.png" id="168" name="Google Shape;16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40909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Inventory &amp; Core Metrics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1058525" y="642937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5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Primary Customer Segments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p18"/>
          <p:cNvGraphicFramePr/>
          <p:nvPr/>
        </p:nvGraphicFramePr>
        <p:xfrm>
          <a:off x="762000" y="264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{4CC640F3-3920-4320-9151-E906E0901208}</a:tableStyleId>
              </a:tblPr>
              <a:tblGrid>
                <a:gridCol w="2662225"/>
                <a:gridCol w="4791975"/>
                <a:gridCol w="1597225"/>
                <a:gridCol w="1597525"/>
              </a:tblGrid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Cohort 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Behavioral Profile Summary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Revenue Share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Churn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E749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High-Value Premium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Loyal, high-spending, frequent transactional history. Extreme retention rates. Needs minimal discount incentive.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62.2%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Engagement Explorers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active browsers but exhibit low transactional conversion. Heavy session count but cart abandonment is common.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36.5%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Inactive Non-Buyers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Minimal click activity. Drop off almost immediately post-signup. Zero conversions representing largest untapped base.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18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6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771525" y="3733800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433762" y="3733800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225730" y="3733800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9822953" y="3733800"/>
            <a:ext cx="15975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1525" y="4333875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433762" y="4333875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8225730" y="4333875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9822953" y="4333875"/>
            <a:ext cx="15975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93114" y="3328987"/>
            <a:ext cx="4572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8339" y="3929062"/>
            <a:ext cx="6667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3589" y="4529137"/>
            <a:ext cx="4762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Segment Profile &amp; Risk Analysis</a:t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62212"/>
            <a:ext cx="51435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62212"/>
            <a:ext cx="51435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1058525" y="642937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7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076325" y="2843212"/>
            <a:ext cx="1695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LTV REGRESSION WORKFLOW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76325" y="3071812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Revenue Projection (Ridge Model)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076325" y="3471862"/>
            <a:ext cx="4514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regularization pipeline projects future user spending boundaries with extreme accuracy, protecting baseline metrics from variance spikes.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600825" y="2843212"/>
            <a:ext cx="1790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BINARY PURCHASE CLASSIFIER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600825" y="3071812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Conversion Likelihood (Logistic)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600825" y="3471862"/>
            <a:ext cx="4514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Predicts exactly which users are likely to convert in their next session. Zero false positives prevent budget drain from redundant advertising.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076325" y="4348162"/>
            <a:ext cx="11811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E74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92.4%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2400300" y="4420641"/>
            <a:ext cx="1533525" cy="321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R-Squared Value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0D9488"/>
                </a:solidFill>
                <a:latin typeface="Inter Medium"/>
                <a:ea typeface="Inter Medium"/>
                <a:cs typeface="Inter Medium"/>
                <a:sym typeface="Inter Medium"/>
              </a:rPr>
              <a:t> Top Driver: Order Value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600825" y="4348162"/>
            <a:ext cx="10096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948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100%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7753350" y="4420641"/>
            <a:ext cx="1352550" cy="321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Model Accuracy Score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0E7490"/>
                </a:solidFill>
                <a:latin typeface="Inter Medium"/>
                <a:ea typeface="Inter Medium"/>
                <a:cs typeface="Inter Medium"/>
                <a:sym typeface="Inter Medium"/>
              </a:rPr>
              <a:t> Standard Scaled</a:t>
            </a:r>
            <a:endParaRPr/>
          </a:p>
        </p:txBody>
      </p:sp>
      <p:pic>
        <p:nvPicPr>
          <p:cNvPr descr="image.png" id="224" name="Google Shape;22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0300" y="4600575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53350" y="460057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Predictive Model Accuracy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05062"/>
            <a:ext cx="33654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05062"/>
            <a:ext cx="33654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05062"/>
            <a:ext cx="336559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8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72891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1057275" y="3433762"/>
            <a:ext cx="14101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1. Retain Elite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057275" y="3776662"/>
            <a:ext cx="1485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High-Value Customers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057275" y="4090987"/>
            <a:ext cx="27749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Launch an elite tier rewards system offering premium product previews and specialized, direct channel customer support structures.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72891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4708475" y="3433762"/>
            <a:ext cx="17902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2. Convert Intent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4708475" y="3776662"/>
            <a:ext cx="1485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Engagement Explorers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4708475" y="4090987"/>
            <a:ext cx="2774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immediate, personalized dynamic cart emails within a 15-minute window, paired with conditional free shipping thresholds.</a:t>
            </a:r>
            <a:endParaRPr/>
          </a:p>
        </p:txBody>
      </p:sp>
      <p:pic>
        <p:nvPicPr>
          <p:cNvPr descr="image.png" id="247" name="Google Shape;24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72891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8359675" y="3433762"/>
            <a:ext cx="21502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3. Win Back Inactive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359675" y="3776662"/>
            <a:ext cx="1352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Inactive Non-Buyers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8359675" y="4090987"/>
            <a:ext cx="277504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Introduce high-discount, low-friction welcome initiatives (e.g. 20% off) accompanied by quick onboarding tutorials.</a:t>
            </a:r>
            <a:endParaRPr/>
          </a:p>
        </p:txBody>
      </p:sp>
      <p:pic>
        <p:nvPicPr>
          <p:cNvPr descr="image.png" id="251" name="Google Shape;25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85862" y="287178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37062" y="287178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02550" y="28717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Targeted Conversion Strategies</a:t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2" name="Google Shape;262;p21"/>
          <p:cNvGraphicFramePr/>
          <p:nvPr/>
        </p:nvGraphicFramePr>
        <p:xfrm>
          <a:off x="762000" y="2557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{4CC640F3-3920-4320-9151-E906E0901208}</a:tableStyleId>
              </a:tblPr>
              <a:tblGrid>
                <a:gridCol w="4791975"/>
                <a:gridCol w="3727100"/>
                <a:gridCol w="2129875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Core Business Focus Question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Optimal Action Segment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Execution Priority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Who generates our core revenue volume?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E749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High-Value Premium (62.2% Contribution)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E749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Ongoing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Who represents our single highest churn threat?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91C1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Inactive Non-Buyers (46% Base Volume)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Immediate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Where should we invest loyalty initiatives first?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E749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High-Value Customers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Who should receive localized product suggestions?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Engagement Explorers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21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9</a:t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771525" y="3538537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563492" y="3538537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9290595" y="3538537"/>
            <a:ext cx="2129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771525" y="4033837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563492" y="4033837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9290595" y="4033837"/>
            <a:ext cx="2129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771525" y="4529137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5563492" y="4529137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9290595" y="4529137"/>
            <a:ext cx="21298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4" name="Google Shape;2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88748" y="3186112"/>
            <a:ext cx="7334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41123" y="3681412"/>
            <a:ext cx="8286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17323" y="4176712"/>
            <a:ext cx="6762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26848" y="4672012"/>
            <a:ext cx="6572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Strategic Matrix Mapping</a:t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52725"/>
            <a:ext cx="51435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495675"/>
            <a:ext cx="51435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38625"/>
            <a:ext cx="51435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11001375" y="6429375"/>
            <a:ext cx="428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762000" y="2852737"/>
            <a:ext cx="514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ESTIMATED CUMULATIVE GROWTH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762000" y="3062287"/>
            <a:ext cx="514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+$2.0M+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762000" y="3919537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Incremental Revenue Increase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762000" y="4310062"/>
            <a:ext cx="5143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Implementing targeted cohort campaigns scales baseline engagement without swelling general customer acquisition expenses.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524625" y="2952750"/>
            <a:ext cx="4705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High-Value Tier: +15-20% Retention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+$1.2M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524625" y="3695700"/>
            <a:ext cx="4705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Explorers: +10-15% Conversion Boost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+$550K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524625" y="4438650"/>
            <a:ext cx="4705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Inactive Base: Convert 5-10% of users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+$400K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Financial &amp; ROI Expectations</a:t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4825" y="30337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726" y="30337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0775" y="30337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11029950" y="642937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1238250" y="3871912"/>
            <a:ext cx="97155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1597848" y="3700462"/>
            <a:ext cx="16302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Phase 1: Week 1-2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1174700" y="4005262"/>
            <a:ext cx="24765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VIP customer program. Construct dynamic cart abandonment workflows targeting High-Engagement Explorers.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5225742" y="3700462"/>
            <a:ext cx="174021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Phase 2: Month 1-3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4857601" y="4005262"/>
            <a:ext cx="24765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Integrate machine learning predictive models into operational marketing lists to execute automatic campaign actions.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8888789" y="3700462"/>
            <a:ext cx="17802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Phase 3: Month 3-6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8540650" y="4005262"/>
            <a:ext cx="2476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Initiate controlled multi-cohort A/B tests to monitor segment variations and continuously optimize recommendation logic.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Tactical Execution Roadmap</a:t>
            </a:r>
            <a:endParaRPr/>
          </a:p>
        </p:txBody>
      </p:sp>
      <p:sp>
        <p:nvSpPr>
          <p:cNvPr id="319" name="Google Shape;319;p23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762000" y="642937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Segmentation Project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11010900" y="642937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762000" y="2900362"/>
            <a:ext cx="45005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Achievements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5524500" y="2900362"/>
            <a:ext cx="45005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Immediate Next Steps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981075" y="3271837"/>
            <a:ext cx="40671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Identified exactly three highly structured segments using real user behaviors.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981075" y="3776662"/>
            <a:ext cx="40671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Constructed predictive algorithms reaching 92% to 100% forecasting precision.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981075" y="4281487"/>
            <a:ext cx="40671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Delivered specialized recommendations to convert untapped opportunities.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5762625" y="3271837"/>
            <a:ext cx="4048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Approve implementation of the Phase 1 strategy roadmap.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5762625" y="3595687"/>
            <a:ext cx="4048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Initiate real-time model integration on our secure servers.</a:t>
            </a:r>
            <a:endParaRPr/>
          </a:p>
        </p:txBody>
      </p:sp>
      <p:pic>
        <p:nvPicPr>
          <p:cNvPr descr="image.png" id="335" name="Google Shape;3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9088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9571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005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4500" y="329088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4500" y="361473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4"/>
          <p:cNvSpPr txBox="1"/>
          <p:nvPr/>
        </p:nvSpPr>
        <p:spPr>
          <a:xfrm>
            <a:off x="952500" y="2214562"/>
            <a:ext cx="93011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Summary &amp; Key Next Steps</a:t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762000" y="2214562"/>
            <a:ext cx="47625" cy="4476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