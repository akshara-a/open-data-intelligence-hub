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Purchase Prediction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Task 9 - Optimized Classification Model with Feature Importance Analysis</a:t>
            </a:r>
          </a:p>
          <a:p>
            <a:pPr>
              <a:defRPr sz="2000"/>
            </a:pPr>
            <a:r>
              <a:t>Student: P.Shadik Khan - G40 AI ML</a:t>
            </a:r>
          </a:p>
          <a:p>
            <a:pPr>
              <a:defRPr sz="2000"/>
            </a:pPr>
            <a:r>
              <a:t>Objective: Predict customers likely to make a purchase using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E-commerce companies need to identify customers who are likely to purchase.</a:t>
            </a:r>
          </a:p>
          <a:p>
            <a:pPr>
              <a:defRPr sz="2000"/>
            </a:pPr>
            <a:r>
              <a:t>The prediction model helps prioritize customers for targeted marketing campaigns.</a:t>
            </a:r>
          </a:p>
          <a:p>
            <a:pPr>
              <a:defRPr sz="2000"/>
            </a:pPr>
            <a:r>
              <a:t>The business objective is to improve customer targeting and conversion opportunities.</a:t>
            </a:r>
          </a:p>
          <a:p>
            <a:pPr>
              <a:defRPr sz="2000"/>
            </a:pPr>
            <a:r>
              <a:t>This is a binary classification problem: Purchase vs No Purchase.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Exploratory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 contains customer demographic, browsing and engagement information.</a:t>
            </a:r>
          </a:p>
          <a:p>
            <a:pPr>
              <a:defRPr sz="2000"/>
            </a:pPr>
            <a:r>
              <a:t>Important variables include TimeOnSite, PagesViewed, ProductsViewed and CartItems.</a:t>
            </a:r>
          </a:p>
          <a:p>
            <a:pPr>
              <a:defRPr sz="2000"/>
            </a:pPr>
            <a:r>
              <a:t>Exploratory analysis was performed using purchase distribution and feature relationships.</a:t>
            </a:r>
          </a:p>
          <a:p>
            <a:pPr>
              <a:defRPr sz="2000"/>
            </a:pPr>
            <a:r>
              <a:t>The target distribution showed class imbalance, making accuracy alone insufficient.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and Leakage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was split into training and unseen test data before model optimization.</a:t>
            </a:r>
          </a:p>
          <a:p>
            <a:pPr>
              <a:defRPr sz="2000"/>
            </a:pPr>
            <a:r>
              <a:t>Numerical and categorical features were processed using a machine learning pipeline.</a:t>
            </a:r>
          </a:p>
          <a:p>
            <a:pPr>
              <a:defRPr sz="2000"/>
            </a:pPr>
            <a:r>
              <a:t>Appropriate encoding and scaling were applied.</a:t>
            </a:r>
          </a:p>
          <a:p>
            <a:pPr>
              <a:defRPr sz="2000"/>
            </a:pPr>
            <a:r>
              <a:t>The test dataset was not used during hyperparameter selection.</a:t>
            </a:r>
          </a:p>
          <a:p>
            <a:pPr>
              <a:defRPr sz="2000"/>
            </a:pPr>
            <a:r>
              <a:t>A fixed random state was used for reproducibility.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Logistic Regression - Baseline</a:t>
            </a:r>
          </a:p>
          <a:p>
            <a:pPr>
              <a:defRPr sz="2000"/>
            </a:pPr>
            <a:r>
              <a:t>Decision Tree - Baseline</a:t>
            </a:r>
          </a:p>
          <a:p>
            <a:pPr>
              <a:defRPr sz="2000"/>
            </a:pPr>
            <a:r>
              <a:t>Random Forest - Baseline</a:t>
            </a:r>
          </a:p>
          <a:p>
            <a:pPr>
              <a:defRPr sz="2000"/>
            </a:pPr>
            <a:r>
              <a:t>Optimized Random Forest</a:t>
            </a:r>
          </a:p>
          <a:p>
            <a:pPr>
              <a:defRPr sz="2000"/>
            </a:pPr>
            <a:r>
              <a:t>Models were evaluated using Accuracy, Precision, Recall, F1 Score and ROC-AUC.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 optimized: Random Forest</a:t>
            </a:r>
          </a:p>
          <a:p>
            <a:pPr>
              <a:defRPr sz="2000"/>
            </a:pPr>
            <a:r>
              <a:t>Search method: GridSearchCV</a:t>
            </a:r>
          </a:p>
          <a:p>
            <a:pPr>
              <a:defRPr sz="2000"/>
            </a:pPr>
            <a:r>
              <a:t>Cross-validation: 5-fold</a:t>
            </a:r>
          </a:p>
          <a:p>
            <a:pPr>
              <a:defRPr sz="2000"/>
            </a:pPr>
            <a:r>
              <a:t>Optimization metric: F1 Score</a:t>
            </a:r>
          </a:p>
          <a:p>
            <a:pPr>
              <a:defRPr sz="2000"/>
            </a:pPr>
            <a:r>
              <a:t>Best CV F1 Score: 0.0755</a:t>
            </a:r>
          </a:p>
          <a:p>
            <a:pPr>
              <a:defRPr sz="2000"/>
            </a:pPr>
            <a:r>
              <a:t>Best model parameters included max_depth=8 and n_estimators=100.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and Threshold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Optimized Random Forest Accuracy: 0.8575</a:t>
            </a:r>
          </a:p>
          <a:p>
            <a:pPr>
              <a:defRPr sz="2000"/>
            </a:pPr>
            <a:r>
              <a:t>Default threshold 0.50 produced no positive purchase predictions.</a:t>
            </a:r>
          </a:p>
          <a:p>
            <a:pPr>
              <a:defRPr sz="2000"/>
            </a:pPr>
            <a:r>
              <a:t>Threshold 0.30 achieved Recall: 0.5319</a:t>
            </a:r>
          </a:p>
          <a:p>
            <a:pPr>
              <a:defRPr sz="2000"/>
            </a:pPr>
            <a:r>
              <a:t>Threshold 0.30 achieved F1 Score: 0.2183</a:t>
            </a:r>
          </a:p>
          <a:p>
            <a:pPr>
              <a:defRPr sz="2000"/>
            </a:pPr>
            <a:r>
              <a:t>This demonstrates why threshold tuning is important for imbalanced classification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Top predictive features:</a:t>
            </a:r>
          </a:p>
          <a:p>
            <a:pPr>
              <a:defRPr sz="2000"/>
            </a:pPr>
            <a:r>
              <a:t>1. TimeOnSite - 0.1323</a:t>
            </a:r>
          </a:p>
          <a:p>
            <a:pPr>
              <a:defRPr sz="2000"/>
            </a:pPr>
            <a:r>
              <a:t>2. DaysSinceLastVisit - 0.1287</a:t>
            </a:r>
          </a:p>
          <a:p>
            <a:pPr>
              <a:defRPr sz="2000"/>
            </a:pPr>
            <a:r>
              <a:t>3. ReviewScoreViewed - 0.0889</a:t>
            </a:r>
          </a:p>
          <a:p>
            <a:pPr>
              <a:defRPr sz="2000"/>
            </a:pPr>
            <a:r>
              <a:t>4. AverageOrderValue - 0.0883</a:t>
            </a:r>
          </a:p>
          <a:p>
            <a:pPr>
              <a:defRPr sz="2000"/>
            </a:pPr>
            <a:r>
              <a:t>5. Age - 0.0790</a:t>
            </a:r>
          </a:p>
          <a:p>
            <a:pPr>
              <a:defRPr sz="2000"/>
            </a:pPr>
            <a:r>
              <a:t>Customer engagement and recency were important predictive signals.</a:t>
            </a:r>
          </a:p>
          <a:p>
            <a:pPr>
              <a:defRPr sz="2000"/>
            </a:pPr>
            <a:r>
              <a:t>Feature importance indicates association and does not prove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Prioritize highly engaged customers for personalized campaigns.</a:t>
            </a:r>
          </a:p>
          <a:p>
            <a:pPr>
              <a:defRPr sz="2000"/>
            </a:pPr>
            <a:r>
              <a:t>Use re-engagement strategies for customers who have not visited recently.</a:t>
            </a:r>
          </a:p>
          <a:p>
            <a:pPr>
              <a:defRPr sz="2000"/>
            </a:pPr>
            <a:r>
              <a:t>Improve product reviews and product information visibility.</a:t>
            </a:r>
          </a:p>
          <a:p>
            <a:pPr>
              <a:defRPr sz="2000"/>
            </a:pPr>
            <a:r>
              <a:t>Target customers who add products to their cart but do not purchase.</a:t>
            </a:r>
          </a:p>
          <a:p>
            <a:pPr>
              <a:defRPr sz="2000"/>
            </a:pPr>
            <a:r>
              <a:t>Use threshold tuning based on campaign costs and business capacity.</a:t>
            </a:r>
          </a:p>
          <a:p>
            <a:pPr>
              <a:defRPr sz="2000"/>
            </a:pPr>
            <a:r>
              <a:t>Future work: improve positive-class detection using class weighting or resampling.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