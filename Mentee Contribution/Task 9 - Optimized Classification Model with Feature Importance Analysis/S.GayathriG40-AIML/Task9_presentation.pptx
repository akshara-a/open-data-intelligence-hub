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707" autoAdjust="0"/>
  </p:normalViewPr>
  <p:slideViewPr>
    <p:cSldViewPr snapToGrid="0">
      <p:cViewPr varScale="1">
        <p:scale>
          <a:sx n="48" d="100"/>
          <a:sy n="48" d="100"/>
        </p:scale>
        <p:origin x="6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B7FD6-6B50-4C58-994F-82DC621427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C7F2D-6B16-4B88-A4F8-ABD5316B47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1DC69-60C3-4CF7-A135-6E702ECCE0F0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CEF1E-1ACC-48D0-92B3-CB3D4FED50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188B4-83B8-4C82-AFAC-DC1E415458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9FFBD-F123-4881-BC93-591827BC61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21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3EC7B-6C72-4FBB-87DF-2BD2CB7DC1E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2A795-6F94-4A96-B820-B9038480D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95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your classroom colors different than what you see in this template? That’s OK! Click on Design -&gt; Variants (the down arrow) -&gt; Pick the color scheme that works for you!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Feel free to change any “You will…” and “I will…” statements to ensure they align with your classroom procedures and rules!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4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34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78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8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7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2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00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27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4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07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24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1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61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F489-B701-4C74-9747-27C8656A8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866334"/>
            <a:ext cx="9966960" cy="2926080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Algerian" panose="04020705040A02060702" pitchFamily="82" charset="0"/>
              </a:rPr>
              <a:t>Predicting E-Commerce Purchase Likelihood Using an Optimized Classification Model</a:t>
            </a:r>
            <a:endParaRPr lang="en-US" sz="4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99F35-1401-4ECD-9F96-7017DB9FA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3908" y="3993901"/>
            <a:ext cx="8767860" cy="1388165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1" dirty="0"/>
              <a:t>Task 9 – Optimized Classification Model with Feature Importance Analysis</a:t>
            </a:r>
            <a:endParaRPr lang="en-IN" dirty="0"/>
          </a:p>
          <a:p>
            <a:pPr algn="l"/>
            <a:r>
              <a:rPr lang="en-IN" b="1" dirty="0"/>
              <a:t>Submitted By:</a:t>
            </a:r>
            <a:br>
              <a:rPr lang="en-IN" dirty="0"/>
            </a:br>
            <a:r>
              <a:rPr lang="en-IN" dirty="0"/>
              <a:t>S. Gayathri (G40-AIML)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144" y="231140"/>
            <a:ext cx="9875520" cy="135636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Business Problem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5D899D-FCFC-77E1-FDDB-CFA78E1F9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E-commerce websites receive many visitors, but only a small percentage complete a purchase.</a:t>
            </a:r>
          </a:p>
          <a:p>
            <a:r>
              <a:rPr lang="en-IN" sz="2400" dirty="0"/>
              <a:t> Businesses need to identify customers who are most likely to buy products.</a:t>
            </a:r>
          </a:p>
          <a:p>
            <a:r>
              <a:rPr lang="en-IN" sz="2400" dirty="0"/>
              <a:t> Predicting purchase likelihood helps improve marketing strategies and customer targeting.</a:t>
            </a:r>
          </a:p>
          <a:p>
            <a:endParaRPr lang="en-IN" sz="2400" dirty="0"/>
          </a:p>
          <a:p>
            <a:pPr marL="45720" indent="0">
              <a:buNone/>
            </a:pPr>
            <a:r>
              <a:rPr lang="en-IN" sz="2400" b="1" dirty="0"/>
              <a:t>  Objective</a:t>
            </a:r>
          </a:p>
          <a:p>
            <a:r>
              <a:rPr lang="en-IN" sz="2400" dirty="0"/>
              <a:t>Develop a machine learning classification model to predict whether a customer will complete a purchase.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407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9" y="533624"/>
            <a:ext cx="9875520" cy="1356360"/>
          </a:xfrm>
        </p:spPr>
        <p:txBody>
          <a:bodyPr>
            <a:norm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Dataset Overview  </a:t>
            </a:r>
            <a:br>
              <a:rPr lang="en-IN" b="1" dirty="0">
                <a:latin typeface="Algerian" panose="04020705040A02060702" pitchFamily="82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D6372-B690-682F-19C2-E6B472E3D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6437" y="1556084"/>
            <a:ext cx="9875520" cy="5133474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Administrative </a:t>
            </a:r>
          </a:p>
          <a:p>
            <a:r>
              <a:rPr lang="en-IN" dirty="0" err="1"/>
              <a:t>ProductRelated</a:t>
            </a:r>
            <a:r>
              <a:rPr lang="en-IN" dirty="0"/>
              <a:t> </a:t>
            </a:r>
          </a:p>
          <a:p>
            <a:r>
              <a:rPr lang="en-IN" dirty="0" err="1"/>
              <a:t>ProductRelated_Duration</a:t>
            </a:r>
            <a:r>
              <a:rPr lang="en-IN" dirty="0"/>
              <a:t> </a:t>
            </a:r>
          </a:p>
          <a:p>
            <a:r>
              <a:rPr lang="en-IN" dirty="0" err="1"/>
              <a:t>BounceRates</a:t>
            </a:r>
            <a:r>
              <a:rPr lang="en-IN" dirty="0"/>
              <a:t> </a:t>
            </a:r>
          </a:p>
          <a:p>
            <a:r>
              <a:rPr lang="en-IN" dirty="0" err="1"/>
              <a:t>ExitRates</a:t>
            </a:r>
            <a:r>
              <a:rPr lang="en-IN" dirty="0"/>
              <a:t> </a:t>
            </a:r>
          </a:p>
          <a:p>
            <a:r>
              <a:rPr lang="en-IN" dirty="0" err="1"/>
              <a:t>PageValues</a:t>
            </a:r>
            <a:r>
              <a:rPr lang="en-IN" dirty="0"/>
              <a:t> </a:t>
            </a:r>
          </a:p>
          <a:p>
            <a:r>
              <a:rPr lang="en-IN" dirty="0" err="1"/>
              <a:t>VisitorType</a:t>
            </a:r>
            <a:r>
              <a:rPr lang="en-IN" dirty="0"/>
              <a:t> </a:t>
            </a:r>
          </a:p>
          <a:p>
            <a:pPr marL="45720" indent="0">
              <a:buNone/>
            </a:pPr>
            <a:r>
              <a:rPr lang="en-IN" b="1" dirty="0"/>
              <a:t>Target Variable</a:t>
            </a:r>
          </a:p>
          <a:p>
            <a:r>
              <a:rPr lang="en-IN" dirty="0"/>
              <a:t>Revenue = 1 → Purchase </a:t>
            </a:r>
          </a:p>
          <a:p>
            <a:r>
              <a:rPr lang="en-IN" dirty="0"/>
              <a:t>Revenue = 0 → No Purchase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25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766" y="244867"/>
            <a:ext cx="9875520" cy="135636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Data Preprocessing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AB142B-FC6E-8863-BD7B-F59A45E5E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32547"/>
            <a:ext cx="9872871" cy="4363453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/>
              <a:t>Loaded dataset </a:t>
            </a:r>
          </a:p>
          <a:p>
            <a:r>
              <a:rPr lang="en-IN" sz="2600" dirty="0"/>
              <a:t>Checked missing values </a:t>
            </a:r>
          </a:p>
          <a:p>
            <a:r>
              <a:rPr lang="en-IN" sz="2600" dirty="0"/>
              <a:t>Removed duplicate records </a:t>
            </a:r>
          </a:p>
          <a:p>
            <a:r>
              <a:rPr lang="en-IN" sz="2600" dirty="0"/>
              <a:t>Converted target variable into binary format </a:t>
            </a:r>
          </a:p>
          <a:p>
            <a:r>
              <a:rPr lang="en-IN" sz="2600" dirty="0"/>
              <a:t>Identified numerical and categorical features </a:t>
            </a:r>
          </a:p>
          <a:p>
            <a:r>
              <a:rPr lang="en-IN" sz="2600" dirty="0"/>
              <a:t>Applied preprocessing pipeline: </a:t>
            </a:r>
          </a:p>
          <a:p>
            <a:pPr lvl="1"/>
            <a:r>
              <a:rPr lang="en-IN" sz="2600" dirty="0"/>
              <a:t>Median Imputation </a:t>
            </a:r>
          </a:p>
          <a:p>
            <a:pPr lvl="1"/>
            <a:r>
              <a:rPr lang="en-IN" sz="2600" dirty="0"/>
              <a:t>One-Hot Encoding </a:t>
            </a:r>
          </a:p>
          <a:p>
            <a:pPr lvl="1"/>
            <a:r>
              <a:rPr lang="en-IN" sz="2600" dirty="0"/>
              <a:t>Standard Scaling </a:t>
            </a:r>
          </a:p>
          <a:p>
            <a:r>
              <a:rPr lang="en-IN" sz="2600" dirty="0"/>
              <a:t>Split dataset into 80% training and 20% testing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404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766" y="244867"/>
            <a:ext cx="9875520" cy="135636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Exploratory Data Analysis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0ADA9-95DA-FD31-C1FA-3B61260F4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01227"/>
            <a:ext cx="9872871" cy="4494773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IN" b="1" dirty="0"/>
              <a:t>Performed:</a:t>
            </a:r>
          </a:p>
          <a:p>
            <a:r>
              <a:rPr lang="en-IN" dirty="0"/>
              <a:t>Purchase Distribution </a:t>
            </a:r>
          </a:p>
          <a:p>
            <a:r>
              <a:rPr lang="en-IN" dirty="0"/>
              <a:t>Correlation Heatmap </a:t>
            </a:r>
          </a:p>
          <a:p>
            <a:r>
              <a:rPr lang="en-IN" dirty="0"/>
              <a:t>Visitor Type Analysis </a:t>
            </a:r>
          </a:p>
          <a:p>
            <a:r>
              <a:rPr lang="en-IN" dirty="0"/>
              <a:t>Weekend Purchase Analysis </a:t>
            </a:r>
          </a:p>
          <a:p>
            <a:r>
              <a:rPr lang="en-IN" dirty="0"/>
              <a:t>Monthly Purchase Trends </a:t>
            </a:r>
          </a:p>
          <a:p>
            <a:r>
              <a:rPr lang="en-IN" dirty="0"/>
              <a:t>Boxplots </a:t>
            </a:r>
          </a:p>
          <a:p>
            <a:r>
              <a:rPr lang="en-IN" dirty="0"/>
              <a:t>Scatter Plots </a:t>
            </a:r>
          </a:p>
          <a:p>
            <a:pPr marL="45720" indent="0">
              <a:buNone/>
            </a:pPr>
            <a:r>
              <a:rPr lang="en-IN" b="1" dirty="0"/>
              <a:t>Key Insight</a:t>
            </a:r>
          </a:p>
          <a:p>
            <a:r>
              <a:rPr lang="en-IN" dirty="0"/>
              <a:t>Customers with higher </a:t>
            </a:r>
            <a:r>
              <a:rPr lang="en-IN" dirty="0" err="1"/>
              <a:t>PageValues</a:t>
            </a:r>
            <a:r>
              <a:rPr lang="en-IN" dirty="0"/>
              <a:t> and longer product browsing sessions were more likely to make a purchase.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43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766" y="244867"/>
            <a:ext cx="9875520" cy="135636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Machine Learning Models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1ADC8-0D07-851B-544C-13453A1F7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2811" y="1376638"/>
            <a:ext cx="9872871" cy="5011905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IN" b="1" dirty="0"/>
              <a:t>Classification Models</a:t>
            </a:r>
          </a:p>
          <a:p>
            <a:r>
              <a:rPr lang="en-IN" dirty="0"/>
              <a:t>Three machine learning models were trained:</a:t>
            </a:r>
          </a:p>
          <a:p>
            <a:r>
              <a:rPr lang="en-IN" dirty="0"/>
              <a:t>Logistic Regression </a:t>
            </a:r>
          </a:p>
          <a:p>
            <a:r>
              <a:rPr lang="en-IN" dirty="0"/>
              <a:t>Decision Tree Classifier </a:t>
            </a:r>
          </a:p>
          <a:p>
            <a:r>
              <a:rPr lang="en-IN" dirty="0"/>
              <a:t>Random Forest Classifier </a:t>
            </a:r>
          </a:p>
          <a:p>
            <a:pPr marL="45720" indent="0">
              <a:buNone/>
            </a:pPr>
            <a:r>
              <a:rPr lang="en-IN" b="1" dirty="0"/>
              <a:t>Evaluation Metrics</a:t>
            </a:r>
          </a:p>
          <a:p>
            <a:r>
              <a:rPr lang="en-IN" dirty="0"/>
              <a:t>Accuracy </a:t>
            </a:r>
          </a:p>
          <a:p>
            <a:r>
              <a:rPr lang="en-IN" dirty="0"/>
              <a:t>Precision </a:t>
            </a:r>
          </a:p>
          <a:p>
            <a:r>
              <a:rPr lang="en-IN" dirty="0"/>
              <a:t>Recall </a:t>
            </a:r>
          </a:p>
          <a:p>
            <a:r>
              <a:rPr lang="en-IN" dirty="0"/>
              <a:t>F1-Score </a:t>
            </a:r>
          </a:p>
          <a:p>
            <a:r>
              <a:rPr lang="en-IN" dirty="0"/>
              <a:t>ROC-AUC </a:t>
            </a:r>
          </a:p>
          <a:p>
            <a:r>
              <a:rPr lang="en-IN" dirty="0"/>
              <a:t>Confusion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73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766" y="244867"/>
            <a:ext cx="9875520" cy="135636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Hyperparameter Optimization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485509-18AD-AA57-8DC1-DA36AB210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631" y="1601227"/>
            <a:ext cx="9872871" cy="5011905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IN" sz="2600" b="1" dirty="0"/>
              <a:t>Hyperparameter Optimization</a:t>
            </a:r>
          </a:p>
          <a:p>
            <a:r>
              <a:rPr lang="en-IN" sz="2600" dirty="0"/>
              <a:t>Optimization Technique:</a:t>
            </a:r>
          </a:p>
          <a:p>
            <a:r>
              <a:rPr lang="en-IN" sz="2600" dirty="0" err="1"/>
              <a:t>GridSearchCV</a:t>
            </a:r>
            <a:r>
              <a:rPr lang="en-IN" sz="2600" dirty="0"/>
              <a:t> </a:t>
            </a:r>
          </a:p>
          <a:p>
            <a:r>
              <a:rPr lang="en-IN" sz="2600" dirty="0"/>
              <a:t>Optimized Parameters:</a:t>
            </a:r>
          </a:p>
          <a:p>
            <a:r>
              <a:rPr lang="en-IN" sz="2600" dirty="0"/>
              <a:t>Number of Trees </a:t>
            </a:r>
          </a:p>
          <a:p>
            <a:r>
              <a:rPr lang="en-IN" sz="2600" dirty="0"/>
              <a:t>Maximum Depth </a:t>
            </a:r>
          </a:p>
          <a:p>
            <a:r>
              <a:rPr lang="en-IN" sz="2600" dirty="0"/>
              <a:t>Minimum Samples Split </a:t>
            </a:r>
          </a:p>
          <a:p>
            <a:r>
              <a:rPr lang="en-IN" sz="2600" dirty="0"/>
              <a:t>Minimum Samples Leaf </a:t>
            </a:r>
          </a:p>
          <a:p>
            <a:r>
              <a:rPr lang="en-IN" sz="2600" dirty="0"/>
              <a:t>Class Weight </a:t>
            </a:r>
          </a:p>
          <a:p>
            <a:pPr marL="45720" indent="0">
              <a:buNone/>
            </a:pPr>
            <a:r>
              <a:rPr lang="en-IN" sz="2600" b="1" dirty="0"/>
              <a:t>Optimization Metric</a:t>
            </a:r>
          </a:p>
          <a:p>
            <a:r>
              <a:rPr lang="en-IN" sz="2600" b="1" dirty="0"/>
              <a:t>F1-Score</a:t>
            </a:r>
            <a:endParaRPr lang="en-IN" sz="2600" dirty="0"/>
          </a:p>
          <a:p>
            <a:r>
              <a:rPr lang="en-IN" sz="2600" dirty="0"/>
              <a:t>Selected because it balances Precision and Recall.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58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766" y="244867"/>
            <a:ext cx="9875520" cy="135636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Results &amp; Feature Importance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931A6-F4A6-712E-45A2-ECE543949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01227"/>
            <a:ext cx="9872871" cy="4719362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IN" b="1" dirty="0"/>
              <a:t>Best Performing Model</a:t>
            </a:r>
          </a:p>
          <a:p>
            <a:pPr marL="45720" indent="0">
              <a:buNone/>
            </a:pPr>
            <a:r>
              <a:rPr lang="en-IN" dirty="0"/>
              <a:t>  Optimized Random Forest</a:t>
            </a:r>
          </a:p>
          <a:p>
            <a:pPr marL="45720" indent="0">
              <a:buNone/>
            </a:pPr>
            <a:r>
              <a:rPr lang="en-IN" b="1" dirty="0"/>
              <a:t>Top Important Features</a:t>
            </a:r>
          </a:p>
          <a:p>
            <a:r>
              <a:rPr lang="en-IN" dirty="0" err="1"/>
              <a:t>PageValues</a:t>
            </a:r>
            <a:r>
              <a:rPr lang="en-IN" dirty="0"/>
              <a:t> </a:t>
            </a:r>
          </a:p>
          <a:p>
            <a:r>
              <a:rPr lang="en-IN" dirty="0" err="1"/>
              <a:t>ProductRelated_Duration</a:t>
            </a:r>
            <a:r>
              <a:rPr lang="en-IN" dirty="0"/>
              <a:t> </a:t>
            </a:r>
          </a:p>
          <a:p>
            <a:r>
              <a:rPr lang="en-IN" dirty="0" err="1"/>
              <a:t>ProductRelated</a:t>
            </a:r>
            <a:r>
              <a:rPr lang="en-IN" dirty="0"/>
              <a:t> </a:t>
            </a:r>
          </a:p>
          <a:p>
            <a:r>
              <a:rPr lang="en-IN" dirty="0" err="1"/>
              <a:t>ExitRates</a:t>
            </a:r>
            <a:r>
              <a:rPr lang="en-IN" dirty="0"/>
              <a:t> </a:t>
            </a:r>
          </a:p>
          <a:p>
            <a:r>
              <a:rPr lang="en-IN" dirty="0" err="1"/>
              <a:t>BounceRates</a:t>
            </a:r>
            <a:r>
              <a:rPr lang="en-IN" dirty="0"/>
              <a:t> </a:t>
            </a:r>
          </a:p>
          <a:p>
            <a:r>
              <a:rPr lang="en-IN" dirty="0" err="1"/>
              <a:t>VisitorType</a:t>
            </a:r>
            <a:r>
              <a:rPr lang="en-IN" dirty="0"/>
              <a:t> </a:t>
            </a:r>
          </a:p>
          <a:p>
            <a:r>
              <a:rPr lang="en-IN" dirty="0"/>
              <a:t>Administrative </a:t>
            </a:r>
          </a:p>
          <a:p>
            <a:pPr marL="45720" indent="0">
              <a:buNone/>
            </a:pPr>
            <a:r>
              <a:rPr lang="en-IN" dirty="0"/>
              <a:t>These features had the highest impact on predicting customer purchases.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317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766" y="244867"/>
            <a:ext cx="9875520" cy="135636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Business Recommendations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78C86-948C-DA77-0290-79D2BE82A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Target customers with high purchase probability. </a:t>
            </a:r>
          </a:p>
          <a:p>
            <a:r>
              <a:rPr lang="en-IN" sz="2800" dirty="0"/>
              <a:t>Provide personalized product recommendations. </a:t>
            </a:r>
          </a:p>
          <a:p>
            <a:r>
              <a:rPr lang="en-IN" sz="2800" dirty="0"/>
              <a:t>Send cart abandonment reminders. </a:t>
            </a:r>
          </a:p>
          <a:p>
            <a:r>
              <a:rPr lang="en-IN" sz="2800" dirty="0"/>
              <a:t>Improve website engagement. </a:t>
            </a:r>
          </a:p>
          <a:p>
            <a:r>
              <a:rPr lang="en-IN" sz="2800" dirty="0"/>
              <a:t>Focus remarketing campaigns on interested customers. </a:t>
            </a:r>
          </a:p>
          <a:p>
            <a:r>
              <a:rPr lang="en-IN" sz="2800" dirty="0"/>
              <a:t>Optimize marketing budget using prediction results.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327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0F39-BB87-C249-B7CE-D9013341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9C52-D188-9E67-3449-9A7029867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Successfully built an optimized classification model for purchase prediction.</a:t>
            </a:r>
          </a:p>
          <a:p>
            <a:r>
              <a:rPr lang="en-IN" sz="2800" dirty="0"/>
              <a:t> Compared multiple machine learning algorithms. </a:t>
            </a:r>
          </a:p>
          <a:p>
            <a:r>
              <a:rPr lang="en-IN" sz="2800" dirty="0"/>
              <a:t>Optimized the best model using </a:t>
            </a:r>
            <a:r>
              <a:rPr lang="en-IN" sz="2800" dirty="0" err="1"/>
              <a:t>GridSearchCV</a:t>
            </a:r>
            <a:r>
              <a:rPr lang="en-IN" sz="2800" dirty="0"/>
              <a:t>.</a:t>
            </a:r>
          </a:p>
          <a:p>
            <a:r>
              <a:rPr lang="en-IN" sz="2800" dirty="0"/>
              <a:t> Identified important features influencing customer purchases.</a:t>
            </a:r>
          </a:p>
          <a:p>
            <a:r>
              <a:rPr lang="en-IN" sz="2800" dirty="0"/>
              <a:t> Generated business recommendations to improve conversion rates.</a:t>
            </a:r>
          </a:p>
        </p:txBody>
      </p:sp>
    </p:spTree>
    <p:extLst>
      <p:ext uri="{BB962C8B-B14F-4D97-AF65-F5344CB8AC3E}">
        <p14:creationId xmlns:p14="http://schemas.microsoft.com/office/powerpoint/2010/main" val="2308513045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885775_Student does teacher does_v2.potx" id="{618315E5-C348-40CF-AD40-05C2F7C13378}" vid="{0C991BBE-F1C3-4926-9687-DBEAAE8C92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6CA70E-ED75-4FF0-A862-8EF12B7377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BF1ABED-93B7-45AC-A513-2CB1FF159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B27744-7857-4992-B755-05855FC59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does, teacher does</Template>
  <TotalTime>18</TotalTime>
  <Words>438</Words>
  <Application>Microsoft Office PowerPoint</Application>
  <PresentationFormat>Widescreen</PresentationFormat>
  <Paragraphs>100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Calibri</vt:lpstr>
      <vt:lpstr>Corbel</vt:lpstr>
      <vt:lpstr>Tahoma</vt:lpstr>
      <vt:lpstr>Basis</vt:lpstr>
      <vt:lpstr>Predicting E-Commerce Purchase Likelihood Using an Optimized Classification Model</vt:lpstr>
      <vt:lpstr>Business Problem</vt:lpstr>
      <vt:lpstr>Dataset Overview   </vt:lpstr>
      <vt:lpstr>Data Preprocessing</vt:lpstr>
      <vt:lpstr>Exploratory Data Analysis</vt:lpstr>
      <vt:lpstr>Machine Learning Models</vt:lpstr>
      <vt:lpstr>Hyperparameter Optimization</vt:lpstr>
      <vt:lpstr>Results &amp; Feature Importance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Gayathri</dc:creator>
  <cp:lastModifiedBy>S Gayathri</cp:lastModifiedBy>
  <cp:revision>1</cp:revision>
  <dcterms:created xsi:type="dcterms:W3CDTF">2026-07-17T11:15:56Z</dcterms:created>
  <dcterms:modified xsi:type="dcterms:W3CDTF">2026-07-17T11:34:26Z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