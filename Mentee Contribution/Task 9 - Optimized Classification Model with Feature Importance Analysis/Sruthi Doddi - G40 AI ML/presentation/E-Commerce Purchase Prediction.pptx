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Montserrat ExtraBold"/>
      <p:bold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B17917-9111-4D98-90B6-A863EB849880}">
  <a:tblStyle styleId="{98B17917-9111-4D98-90B6-A863EB84988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5.xml"/><Relationship Id="rId33" Type="http://schemas.openxmlformats.org/officeDocument/2006/relationships/font" Target="fonts/MontserratExtraBold-bold.fntdata"/><Relationship Id="rId10" Type="http://schemas.openxmlformats.org/officeDocument/2006/relationships/slide" Target="slides/slide4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7.xml"/><Relationship Id="rId35" Type="http://schemas.openxmlformats.org/officeDocument/2006/relationships/font" Target="fonts/InterMedium-regular.fntdata"/><Relationship Id="rId12" Type="http://schemas.openxmlformats.org/officeDocument/2006/relationships/slide" Target="slides/slide6.xml"/><Relationship Id="rId34" Type="http://schemas.openxmlformats.org/officeDocument/2006/relationships/font" Target="fonts/MontserratExtraBold-bold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italic.fntdata"/><Relationship Id="rId14" Type="http://schemas.openxmlformats.org/officeDocument/2006/relationships/slide" Target="slides/slide8.xml"/><Relationship Id="rId36" Type="http://schemas.openxmlformats.org/officeDocument/2006/relationships/font" Target="fonts/InterMedium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InterMedium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Relationship Id="rId4" Type="http://schemas.openxmlformats.org/officeDocument/2006/relationships/image" Target="../media/image9.png"/><Relationship Id="rId9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23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Relationship Id="rId4" Type="http://schemas.openxmlformats.org/officeDocument/2006/relationships/image" Target="../media/image17.png"/><Relationship Id="rId9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21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13.png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9" Type="http://schemas.openxmlformats.org/officeDocument/2006/relationships/image" Target="../media/image59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5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24.png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9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5.png"/><Relationship Id="rId8" Type="http://schemas.openxmlformats.org/officeDocument/2006/relationships/image" Target="../media/image5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Relationship Id="rId5" Type="http://schemas.openxmlformats.org/officeDocument/2006/relationships/image" Target="../media/image5.png"/><Relationship Id="rId6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45.png"/><Relationship Id="rId5" Type="http://schemas.openxmlformats.org/officeDocument/2006/relationships/image" Target="../media/image34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Relationship Id="rId9" Type="http://schemas.openxmlformats.org/officeDocument/2006/relationships/image" Target="../media/image5.png"/><Relationship Id="rId5" Type="http://schemas.openxmlformats.org/officeDocument/2006/relationships/image" Target="../media/image33.png"/><Relationship Id="rId6" Type="http://schemas.openxmlformats.org/officeDocument/2006/relationships/image" Target="../media/image46.png"/><Relationship Id="rId7" Type="http://schemas.openxmlformats.org/officeDocument/2006/relationships/image" Target="../media/image50.png"/><Relationship Id="rId8" Type="http://schemas.openxmlformats.org/officeDocument/2006/relationships/image" Target="../media/image43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47.png"/><Relationship Id="rId10" Type="http://schemas.openxmlformats.org/officeDocument/2006/relationships/image" Target="../media/image35.png"/><Relationship Id="rId13" Type="http://schemas.openxmlformats.org/officeDocument/2006/relationships/image" Target="../media/image5.png"/><Relationship Id="rId1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Relationship Id="rId9" Type="http://schemas.openxmlformats.org/officeDocument/2006/relationships/image" Target="../media/image39.png"/><Relationship Id="rId5" Type="http://schemas.openxmlformats.org/officeDocument/2006/relationships/image" Target="../media/image37.png"/><Relationship Id="rId6" Type="http://schemas.openxmlformats.org/officeDocument/2006/relationships/image" Target="../media/image40.png"/><Relationship Id="rId7" Type="http://schemas.openxmlformats.org/officeDocument/2006/relationships/image" Target="../media/image66.png"/><Relationship Id="rId8" Type="http://schemas.openxmlformats.org/officeDocument/2006/relationships/image" Target="../media/image41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67.png"/><Relationship Id="rId10" Type="http://schemas.openxmlformats.org/officeDocument/2006/relationships/image" Target="../media/image49.png"/><Relationship Id="rId13" Type="http://schemas.openxmlformats.org/officeDocument/2006/relationships/image" Target="../media/image54.png"/><Relationship Id="rId1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38.png"/><Relationship Id="rId9" Type="http://schemas.openxmlformats.org/officeDocument/2006/relationships/image" Target="../media/image48.png"/><Relationship Id="rId5" Type="http://schemas.openxmlformats.org/officeDocument/2006/relationships/image" Target="../media/image64.png"/><Relationship Id="rId6" Type="http://schemas.openxmlformats.org/officeDocument/2006/relationships/image" Target="../media/image62.png"/><Relationship Id="rId7" Type="http://schemas.openxmlformats.org/officeDocument/2006/relationships/image" Target="../media/image5.png"/><Relationship Id="rId8" Type="http://schemas.openxmlformats.org/officeDocument/2006/relationships/image" Target="../media/image5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57.png"/><Relationship Id="rId5" Type="http://schemas.openxmlformats.org/officeDocument/2006/relationships/image" Target="../media/image70.png"/><Relationship Id="rId6" Type="http://schemas.openxmlformats.org/officeDocument/2006/relationships/image" Target="../media/image51.png"/><Relationship Id="rId7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Relationship Id="rId4" Type="http://schemas.openxmlformats.org/officeDocument/2006/relationships/image" Target="../media/image5.png"/><Relationship Id="rId9" Type="http://schemas.openxmlformats.org/officeDocument/2006/relationships/image" Target="../media/image74.png"/><Relationship Id="rId5" Type="http://schemas.openxmlformats.org/officeDocument/2006/relationships/image" Target="../media/image58.png"/><Relationship Id="rId6" Type="http://schemas.openxmlformats.org/officeDocument/2006/relationships/image" Target="../media/image56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3.png"/><Relationship Id="rId4" Type="http://schemas.openxmlformats.org/officeDocument/2006/relationships/image" Target="../media/image60.png"/><Relationship Id="rId5" Type="http://schemas.openxmlformats.org/officeDocument/2006/relationships/image" Target="../media/image1.png"/><Relationship Id="rId6" Type="http://schemas.openxmlformats.org/officeDocument/2006/relationships/image" Target="../media/image7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3.png"/><Relationship Id="rId4" Type="http://schemas.openxmlformats.org/officeDocument/2006/relationships/image" Target="../media/image61.png"/><Relationship Id="rId5" Type="http://schemas.openxmlformats.org/officeDocument/2006/relationships/image" Target="../media/image1.png"/><Relationship Id="rId6" Type="http://schemas.openxmlformats.org/officeDocument/2006/relationships/image" Target="../media/image63.png"/><Relationship Id="rId7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1722387"/>
            <a:ext cx="8572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ENTERPRISE ANALYTICS SOLUTION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2126158"/>
            <a:ext cx="9001125" cy="1226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E-Commerce Purchase Prediction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3590925"/>
            <a:ext cx="7620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Building High-Precision Machine Learning Pipelines to Optimize Marketing Spend &amp; Conversion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6429375"/>
            <a:ext cx="1104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BI &amp; Analytics Group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763125" y="6429375"/>
            <a:ext cx="16668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Corporate Presentation • 2026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933450" y="4564260"/>
            <a:ext cx="84010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PRESENTED BY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33450" y="4800451"/>
            <a:ext cx="84010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Sruthi Doddi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291804"/>
            <a:ext cx="5143500" cy="30078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291804"/>
            <a:ext cx="5143500" cy="17695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251870"/>
            <a:ext cx="2500312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5187" y="4251870"/>
            <a:ext cx="2500312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62000" y="6429375"/>
            <a:ext cx="1514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Purchase Prediction Project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058525" y="6429375"/>
            <a:ext cx="371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2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00825" y="2606129"/>
            <a:ext cx="474059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Target Objectives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381125" y="2606129"/>
            <a:ext cx="442055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91B1B"/>
                </a:solidFill>
                <a:latin typeface="Montserrat"/>
                <a:ea typeface="Montserrat"/>
                <a:cs typeface="Montserrat"/>
                <a:sym typeface="Montserrat"/>
              </a:rPr>
              <a:t>Low Purchase Conversion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76325" y="3015704"/>
            <a:ext cx="45148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F1D1D"/>
                </a:solidFill>
                <a:latin typeface="Inter Medium"/>
                <a:ea typeface="Inter Medium"/>
                <a:cs typeface="Inter Medium"/>
                <a:sym typeface="Inter Medium"/>
              </a:rPr>
              <a:t>Only </a:t>
            </a:r>
            <a:r>
              <a:rPr b="1" i="0" lang="en-US" sz="1200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22.46% of customer sessions</a:t>
            </a:r>
            <a:r>
              <a:rPr b="0" i="0" lang="en-US" sz="1200" u="none" cap="none" strike="noStrike">
                <a:solidFill>
                  <a:srgbClr val="7F1D1D"/>
                </a:solidFill>
                <a:latin typeface="Inter Medium"/>
                <a:ea typeface="Inter Medium"/>
                <a:cs typeface="Inter Medium"/>
                <a:sym typeface="Inter Medium"/>
              </a:rPr>
              <a:t> result in a transaction. We are failing to capture intent in real-time, resulting in missed opportunities and high cart abandonment.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90600" y="4518570"/>
            <a:ext cx="20431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C262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22.46%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90600" y="4918620"/>
            <a:ext cx="20431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CONVERSION RATE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3633787" y="4518570"/>
            <a:ext cx="20431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F444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$10M+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3633787" y="4918620"/>
            <a:ext cx="20431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REVENUE AT RISK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600825" y="3053804"/>
            <a:ext cx="451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E7490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Build a robust classification model to predict real-time purchase likelihood.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600825" y="3606254"/>
            <a:ext cx="4514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E7490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Target high-potential users dynamically before they churn.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600825" y="3977729"/>
            <a:ext cx="4514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E7490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Protect marketing margins by suppressing low-probability spend.</a:t>
            </a:r>
            <a:endParaRPr/>
          </a:p>
        </p:txBody>
      </p:sp>
      <p:pic>
        <p:nvPicPr>
          <p:cNvPr descr="image.png" id="115" name="Google Shape;11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76325" y="2629941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The Business Problem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03289"/>
            <a:ext cx="3429000" cy="782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503289"/>
            <a:ext cx="3429000" cy="782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2503289"/>
            <a:ext cx="3429000" cy="782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619500"/>
            <a:ext cx="5143500" cy="1468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619500"/>
            <a:ext cx="5143500" cy="1468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762000" y="6429375"/>
            <a:ext cx="1514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Purchase Prediction Project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1049000" y="6429375"/>
            <a:ext cx="381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3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038225" y="2646164"/>
            <a:ext cx="291465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TOTAL RECORDS EVALUATED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038225" y="2867025"/>
            <a:ext cx="1885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25,000 Sessions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4657725" y="2646164"/>
            <a:ext cx="291465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DIMENSION MATRIX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4657725" y="2867025"/>
            <a:ext cx="2314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29 Columns (1 Year)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277225" y="2646164"/>
            <a:ext cx="291465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TARGET RATIO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277225" y="2867025"/>
            <a:ext cx="21812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22.46% Purchased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000125" y="3857625"/>
            <a:ext cx="490061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Feature Breakdown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524625" y="3857625"/>
            <a:ext cx="490061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Representative Predictors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524625" y="4181475"/>
            <a:ext cx="4667250" cy="668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customer_id, device_type, user_type, unit_price, quantity, discount, revenue, pages_viewed, time_on_site_sec, rating, review_helpful_votes, purchased (Target).</a:t>
            </a:r>
            <a:endParaRPr/>
          </a:p>
        </p:txBody>
      </p:sp>
      <p:pic>
        <p:nvPicPr>
          <p:cNvPr descr="image.png" id="140" name="Google Shape;14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0125" y="3876675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24625" y="387667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1000125" y="4210050"/>
            <a:ext cx="3048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E74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13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1000125" y="4581525"/>
            <a:ext cx="1304925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NUMERICAL FEATURES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4229100" y="4210050"/>
            <a:ext cx="3238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D9488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16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4229100" y="4581525"/>
            <a:ext cx="1438275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CATEGORICAL FEATURES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Dataset Overview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51807"/>
            <a:ext cx="5191125" cy="1101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551807"/>
            <a:ext cx="5191125" cy="1101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38587"/>
            <a:ext cx="5191125" cy="1101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3938587"/>
            <a:ext cx="5191125" cy="1101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762000" y="6429375"/>
            <a:ext cx="1514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Purchase Prediction Project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11049000" y="6429375"/>
            <a:ext cx="381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4</a:t>
            </a:r>
            <a:endParaRPr/>
          </a:p>
        </p:txBody>
      </p:sp>
      <p:pic>
        <p:nvPicPr>
          <p:cNvPr descr="image.png" id="160" name="Google Shape;16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0125" y="286419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7000" y="286419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0125" y="425097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7000" y="425097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28712" y="3007072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1666875" y="2799457"/>
            <a:ext cx="23241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User Registration Advantage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1666875" y="3018532"/>
            <a:ext cx="40481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Registered users show </a:t>
            </a: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25.65% purchase conversion</a:t>
            </a: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vs. only 18.55% for non-registered (+38% lift).</a:t>
            </a:r>
            <a:endParaRPr/>
          </a:p>
        </p:txBody>
      </p:sp>
      <p:pic>
        <p:nvPicPr>
          <p:cNvPr descr="image.png" id="167" name="Google Shape;167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29400" y="300707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 txBox="1"/>
          <p:nvPr/>
        </p:nvSpPr>
        <p:spPr>
          <a:xfrm>
            <a:off x="7143750" y="2799457"/>
            <a:ext cx="18954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Device Platform Trends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7143750" y="3018532"/>
            <a:ext cx="40481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Tablet leads with </a:t>
            </a: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23.20% purchase rate</a:t>
            </a: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, followed closely by Desktop (22.46%) and Mobile (22.32%).</a:t>
            </a:r>
            <a:endParaRPr/>
          </a:p>
        </p:txBody>
      </p:sp>
      <p:pic>
        <p:nvPicPr>
          <p:cNvPr descr="image.png" id="170" name="Google Shape;170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3000" y="439385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/>
        </p:nvSpPr>
        <p:spPr>
          <a:xfrm>
            <a:off x="1666875" y="4186237"/>
            <a:ext cx="20669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Reviews are Predictive #1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1666875" y="4405312"/>
            <a:ext cx="40481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Review helpful votes capture </a:t>
            </a: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72.17% of predictive focus</a:t>
            </a: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, far outstripping single overall Product Rating (19.78%).</a:t>
            </a:r>
            <a:endParaRPr/>
          </a:p>
        </p:txBody>
      </p:sp>
      <p:pic>
        <p:nvPicPr>
          <p:cNvPr descr="image.png" id="173" name="Google Shape;173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19875" y="439385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/>
        </p:nvSpPr>
        <p:spPr>
          <a:xfrm>
            <a:off x="7143750" y="4186237"/>
            <a:ext cx="1600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Site Dwelling Intent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7143750" y="4405312"/>
            <a:ext cx="40481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Purchasers spend </a:t>
            </a: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929.7 seconds average</a:t>
            </a: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on the site vs 895.6 seconds for standard visitors.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Exploratory Findings</a:t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14600"/>
            <a:ext cx="336545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514600"/>
            <a:ext cx="336545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514600"/>
            <a:ext cx="3365599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7"/>
          <p:cNvSpPr txBox="1"/>
          <p:nvPr/>
        </p:nvSpPr>
        <p:spPr>
          <a:xfrm>
            <a:off x="762000" y="6429375"/>
            <a:ext cx="1514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Purchase Prediction Project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11058525" y="6429375"/>
            <a:ext cx="371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5</a:t>
            </a:r>
            <a:endParaRPr/>
          </a:p>
        </p:txBody>
      </p:sp>
      <p:pic>
        <p:nvPicPr>
          <p:cNvPr descr="image.png" id="189" name="Google Shape;18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2838450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 txBox="1"/>
          <p:nvPr/>
        </p:nvSpPr>
        <p:spPr>
          <a:xfrm>
            <a:off x="1057275" y="3543300"/>
            <a:ext cx="16802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1. Data Cleaning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1057275" y="3886200"/>
            <a:ext cx="1228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Denoising Pipeline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1057275" y="4181475"/>
            <a:ext cx="27749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Removed arbitrary target-leaking identifiers (customer_id, session_id). Checked zero-missing values and deduplicated records.</a:t>
            </a:r>
            <a:endParaRPr/>
          </a:p>
        </p:txBody>
      </p:sp>
      <p:pic>
        <p:nvPicPr>
          <p:cNvPr descr="image.png" id="193" name="Google Shape;19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08475" y="2838450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7"/>
          <p:cNvSpPr txBox="1"/>
          <p:nvPr/>
        </p:nvSpPr>
        <p:spPr>
          <a:xfrm>
            <a:off x="4708475" y="3543300"/>
            <a:ext cx="2310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2. Feature Transforms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4708475" y="3886200"/>
            <a:ext cx="1371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Encoding Mechanics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4708475" y="4181475"/>
            <a:ext cx="27749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Applied Label Encoding to 6 foundational categories (device, product segment, etc.) and mapped 13 parameters for scaling.</a:t>
            </a:r>
            <a:endParaRPr/>
          </a:p>
        </p:txBody>
      </p:sp>
      <p:pic>
        <p:nvPicPr>
          <p:cNvPr descr="image.png" id="197" name="Google Shape;19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59675" y="2838450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 txBox="1"/>
          <p:nvPr/>
        </p:nvSpPr>
        <p:spPr>
          <a:xfrm>
            <a:off x="8359675" y="3543300"/>
            <a:ext cx="18602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3. Stratified Splits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8359675" y="3886200"/>
            <a:ext cx="1000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Partition Guard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8359675" y="4181475"/>
            <a:ext cx="277504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Deployed 80% Train (20,000) and 20% Test (5,000) splits. Stratified strictly to preserve identical 22.46% balance classes.</a:t>
            </a:r>
            <a:endParaRPr/>
          </a:p>
        </p:txBody>
      </p:sp>
      <p:pic>
        <p:nvPicPr>
          <p:cNvPr descr="image.png" id="201" name="Google Shape;201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00150" y="29813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22775" y="298132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502550" y="29813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Data Preprocessing</a:t>
            </a: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496692"/>
            <a:ext cx="10668000" cy="645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3" name="Google Shape;213;p18"/>
          <p:cNvGraphicFramePr/>
          <p:nvPr/>
        </p:nvGraphicFramePr>
        <p:xfrm>
          <a:off x="762000" y="24488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{98B17917-9111-4D98-90B6-A863EB849880}</a:tableStyleId>
              </a:tblPr>
              <a:tblGrid>
                <a:gridCol w="2621150"/>
                <a:gridCol w="1653175"/>
                <a:gridCol w="1682950"/>
                <a:gridCol w="1399875"/>
                <a:gridCol w="1578625"/>
                <a:gridCol w="1713150"/>
              </a:tblGrid>
              <a:tr h="45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 Candidate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Precision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Recall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F1-Score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ROC-AUC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Logistic Regression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98.84%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100.00%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94.84%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97.35%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98.62%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Decision Tree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99.62%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99.20%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99.11%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99.15%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99.44%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E749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Random Forest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E749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99.66%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E749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100.00%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E749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98.49%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E749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99.24%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E749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99.49%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4" name="Google Shape;214;p18"/>
          <p:cNvSpPr txBox="1"/>
          <p:nvPr/>
        </p:nvSpPr>
        <p:spPr>
          <a:xfrm>
            <a:off x="762000" y="6429375"/>
            <a:ext cx="1514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Purchase Prediction Project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11049000" y="6429375"/>
            <a:ext cx="381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6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10039350" y="4681388"/>
            <a:ext cx="1238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4785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F1: 99.24%</a:t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771525" y="3372742"/>
            <a:ext cx="26211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3392685" y="3372742"/>
            <a:ext cx="16531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5045868" y="3372742"/>
            <a:ext cx="16829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6728817" y="3372742"/>
            <a:ext cx="13998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8128694" y="3372742"/>
            <a:ext cx="15786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9707314" y="3372742"/>
            <a:ext cx="17131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771525" y="3810892"/>
            <a:ext cx="26211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3392685" y="3810892"/>
            <a:ext cx="16531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5045868" y="3810892"/>
            <a:ext cx="16829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6728817" y="3810892"/>
            <a:ext cx="13998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8128694" y="3810892"/>
            <a:ext cx="15786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9707314" y="3810892"/>
            <a:ext cx="17131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952500" y="4610992"/>
            <a:ext cx="37052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Top Performer Selected: Random Forest Classifier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952500" y="4830067"/>
            <a:ext cx="72961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65F46"/>
                </a:solidFill>
                <a:latin typeface="Inter Medium"/>
                <a:ea typeface="Inter Medium"/>
                <a:cs typeface="Inter Medium"/>
                <a:sym typeface="Inter Medium"/>
              </a:rPr>
              <a:t>Excellent balance of 100% precision with high recall. High performance achieved due to deep decision boundary structures.</a:t>
            </a:r>
            <a:endParaRPr/>
          </a:p>
        </p:txBody>
      </p:sp>
      <p:pic>
        <p:nvPicPr>
          <p:cNvPr descr="image.png" id="231" name="Google Shape;23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630042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8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Model Baseline Comparison</a:t>
            </a:r>
            <a:endParaRPr/>
          </a:p>
        </p:txBody>
      </p:sp>
      <p:sp>
        <p:nvSpPr>
          <p:cNvPr id="233" name="Google Shape;233;p18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82167"/>
            <a:ext cx="5143500" cy="24269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82167"/>
            <a:ext cx="5143500" cy="24269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9"/>
          <p:cNvSpPr txBox="1"/>
          <p:nvPr/>
        </p:nvSpPr>
        <p:spPr>
          <a:xfrm>
            <a:off x="762000" y="6429375"/>
            <a:ext cx="1514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Purchase Prediction Project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11058525" y="6429375"/>
            <a:ext cx="371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7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1076325" y="2925067"/>
            <a:ext cx="474059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Randomized Search Setup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1076325" y="3248917"/>
            <a:ext cx="45148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3-fold Stratified Cross-Validation on F1-Score (20 Iterations)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6600825" y="2925067"/>
            <a:ext cx="474059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Best Parameters Found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6600825" y="3248917"/>
            <a:ext cx="45148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Fitted model achieved marginal validation improvement (+0.13% F1 Lift)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1076325" y="3589883"/>
            <a:ext cx="4514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n_estimators</a:t>
            </a: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75" u="none" cap="none" strike="noStrike">
                <a:solidFill>
                  <a:srgbClr val="0E7490"/>
                </a:solidFill>
                <a:latin typeface="Inter"/>
                <a:ea typeface="Inter"/>
                <a:cs typeface="Inter"/>
                <a:sym typeface="Inter"/>
              </a:rPr>
              <a:t>[50, 100, 150, 200]</a:t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1076325" y="3799433"/>
            <a:ext cx="45148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1076325" y="3885158"/>
            <a:ext cx="4514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max_depth</a:t>
            </a: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75" u="none" cap="none" strike="noStrike">
                <a:solidFill>
                  <a:srgbClr val="0E7490"/>
                </a:solidFill>
                <a:latin typeface="Inter"/>
                <a:ea typeface="Inter"/>
                <a:cs typeface="Inter"/>
                <a:sym typeface="Inter"/>
              </a:rPr>
              <a:t>[None, 10, 20, 30]</a:t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1076325" y="4094708"/>
            <a:ext cx="45148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1076325" y="4180433"/>
            <a:ext cx="4514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min_samples_split</a:t>
            </a: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75" u="none" cap="none" strike="noStrike">
                <a:solidFill>
                  <a:srgbClr val="0E7490"/>
                </a:solidFill>
                <a:latin typeface="Inter"/>
                <a:ea typeface="Inter"/>
                <a:cs typeface="Inter"/>
                <a:sym typeface="Inter"/>
              </a:rPr>
              <a:t>[2, 5, 10]</a:t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076325" y="4389983"/>
            <a:ext cx="45148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1076325" y="4475708"/>
            <a:ext cx="4514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class_weight</a:t>
            </a: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75" u="none" cap="none" strike="noStrike">
                <a:solidFill>
                  <a:srgbClr val="0E7490"/>
                </a:solidFill>
                <a:latin typeface="Inter"/>
                <a:ea typeface="Inter"/>
                <a:cs typeface="Inter"/>
                <a:sym typeface="Inter"/>
              </a:rPr>
              <a:t>[None, 'balanced']</a:t>
            </a: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1076325" y="4685258"/>
            <a:ext cx="45148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6600825" y="3589883"/>
            <a:ext cx="4514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n_estimators</a:t>
            </a: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975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6600825" y="3799433"/>
            <a:ext cx="45148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6600825" y="3885158"/>
            <a:ext cx="4514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max_depth</a:t>
            </a: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975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6600825" y="4094708"/>
            <a:ext cx="45148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6600825" y="4180433"/>
            <a:ext cx="4514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min_samples_split</a:t>
            </a: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975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6600825" y="4389983"/>
            <a:ext cx="45148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 txBox="1"/>
          <p:nvPr/>
        </p:nvSpPr>
        <p:spPr>
          <a:xfrm>
            <a:off x="6600825" y="4475708"/>
            <a:ext cx="4514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F1-Score (Test)</a:t>
            </a: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975" u="none" cap="none" strike="noStrike">
                <a:solidFill>
                  <a:srgbClr val="0E7490"/>
                </a:solidFill>
                <a:latin typeface="Inter"/>
                <a:ea typeface="Inter"/>
                <a:cs typeface="Inter"/>
                <a:sym typeface="Inter"/>
              </a:rPr>
              <a:t>99.37%</a:t>
            </a:r>
            <a:endParaRPr/>
          </a:p>
        </p:txBody>
      </p:sp>
      <p:sp>
        <p:nvSpPr>
          <p:cNvPr id="263" name="Google Shape;263;p19"/>
          <p:cNvSpPr/>
          <p:nvPr/>
        </p:nvSpPr>
        <p:spPr>
          <a:xfrm>
            <a:off x="6600825" y="4685258"/>
            <a:ext cx="45148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1076325" y="3799433"/>
            <a:ext cx="45148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1076325" y="4094708"/>
            <a:ext cx="45148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1076325" y="4389983"/>
            <a:ext cx="45148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076325" y="4685258"/>
            <a:ext cx="45148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6600825" y="3799433"/>
            <a:ext cx="45148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6600825" y="4094708"/>
            <a:ext cx="45148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6600825" y="4389983"/>
            <a:ext cx="45148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6600825" y="4685258"/>
            <a:ext cx="45148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Hyperparameter Optimization</a:t>
            </a: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8" name="Google Shape;2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13719"/>
            <a:ext cx="5143500" cy="23639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604444"/>
            <a:ext cx="5143500" cy="3732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613719"/>
            <a:ext cx="2500312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5187" y="2613719"/>
            <a:ext cx="2500312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585269"/>
            <a:ext cx="2500312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05187" y="3585269"/>
            <a:ext cx="2500312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0"/>
          <p:cNvSpPr txBox="1"/>
          <p:nvPr/>
        </p:nvSpPr>
        <p:spPr>
          <a:xfrm>
            <a:off x="762000" y="6429375"/>
            <a:ext cx="1514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Purchase Prediction Project</a:t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11049000" y="6429375"/>
            <a:ext cx="381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8</a:t>
            </a: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6407943" y="3086100"/>
            <a:ext cx="49006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Confusion Matrix (N = 5,000)</a:t>
            </a:r>
            <a:endParaRPr/>
          </a:p>
        </p:txBody>
      </p:sp>
      <p:graphicFrame>
        <p:nvGraphicFramePr>
          <p:cNvPr id="289" name="Google Shape;289;p20"/>
          <p:cNvGraphicFramePr/>
          <p:nvPr/>
        </p:nvGraphicFramePr>
        <p:xfrm>
          <a:off x="6524625" y="3409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{98B17917-9111-4D98-90B6-A863EB849880}</a:tableStyleId>
              </a:tblPr>
              <a:tblGrid>
                <a:gridCol w="1444375"/>
                <a:gridCol w="1661375"/>
                <a:gridCol w="15567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Pred. Negative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Pred. Positive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Actual Neg.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65F4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3,877 (TN)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 (FP)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Actual Pos.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14 (FN)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65F4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1,109 (TP)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290" name="Google Shape;290;p20"/>
          <p:cNvSpPr txBox="1"/>
          <p:nvPr/>
        </p:nvSpPr>
        <p:spPr>
          <a:xfrm>
            <a:off x="942975" y="4699694"/>
            <a:ext cx="481965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Impact: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Perfect precision eliminates marketing budget dilution on false prospects.</a:t>
            </a:r>
            <a:endParaRPr/>
          </a:p>
        </p:txBody>
      </p:sp>
      <p:sp>
        <p:nvSpPr>
          <p:cNvPr id="291" name="Google Shape;291;p20"/>
          <p:cNvSpPr txBox="1"/>
          <p:nvPr/>
        </p:nvSpPr>
        <p:spPr>
          <a:xfrm>
            <a:off x="914400" y="2804219"/>
            <a:ext cx="21955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99.72%</a:t>
            </a:r>
            <a:endParaRPr/>
          </a:p>
        </p:txBody>
      </p:sp>
      <p:sp>
        <p:nvSpPr>
          <p:cNvPr id="292" name="Google Shape;292;p20"/>
          <p:cNvSpPr txBox="1"/>
          <p:nvPr/>
        </p:nvSpPr>
        <p:spPr>
          <a:xfrm>
            <a:off x="914400" y="3156644"/>
            <a:ext cx="219551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ACCURACY</a:t>
            </a: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3557587" y="2804219"/>
            <a:ext cx="21955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100.00%</a:t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3557587" y="3156644"/>
            <a:ext cx="219551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PRECISION</a:t>
            </a:r>
            <a:endParaRPr/>
          </a:p>
        </p:txBody>
      </p:sp>
      <p:sp>
        <p:nvSpPr>
          <p:cNvPr id="295" name="Google Shape;295;p20"/>
          <p:cNvSpPr txBox="1"/>
          <p:nvPr/>
        </p:nvSpPr>
        <p:spPr>
          <a:xfrm>
            <a:off x="914400" y="3775769"/>
            <a:ext cx="21955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98.75%</a:t>
            </a:r>
            <a:endParaRPr/>
          </a:p>
        </p:txBody>
      </p:sp>
      <p:sp>
        <p:nvSpPr>
          <p:cNvPr id="296" name="Google Shape;296;p20"/>
          <p:cNvSpPr txBox="1"/>
          <p:nvPr/>
        </p:nvSpPr>
        <p:spPr>
          <a:xfrm>
            <a:off x="914400" y="4128194"/>
            <a:ext cx="219551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RECALL</a:t>
            </a:r>
            <a:endParaRPr/>
          </a:p>
        </p:txBody>
      </p:sp>
      <p:sp>
        <p:nvSpPr>
          <p:cNvPr id="297" name="Google Shape;297;p20"/>
          <p:cNvSpPr txBox="1"/>
          <p:nvPr/>
        </p:nvSpPr>
        <p:spPr>
          <a:xfrm>
            <a:off x="3557587" y="3775769"/>
            <a:ext cx="21955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99.55%</a:t>
            </a:r>
            <a:endParaRPr/>
          </a:p>
        </p:txBody>
      </p:sp>
      <p:sp>
        <p:nvSpPr>
          <p:cNvPr id="298" name="Google Shape;298;p20"/>
          <p:cNvSpPr txBox="1"/>
          <p:nvPr/>
        </p:nvSpPr>
        <p:spPr>
          <a:xfrm>
            <a:off x="3557587" y="4128194"/>
            <a:ext cx="219551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ROC-AUC</a:t>
            </a:r>
            <a:endParaRPr/>
          </a:p>
        </p:txBody>
      </p:sp>
      <p:sp>
        <p:nvSpPr>
          <p:cNvPr id="299" name="Google Shape;299;p20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Final Model Performance</a:t>
            </a:r>
            <a:endParaRPr/>
          </a:p>
        </p:txBody>
      </p:sp>
      <p:sp>
        <p:nvSpPr>
          <p:cNvPr id="300" name="Google Shape;300;p20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13719"/>
            <a:ext cx="5143500" cy="2363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13719"/>
            <a:ext cx="5143500" cy="2363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433613"/>
            <a:ext cx="51435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795563"/>
            <a:ext cx="51435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157513"/>
            <a:ext cx="51435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67000" y="3433613"/>
            <a:ext cx="3048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67000" y="3795563"/>
            <a:ext cx="3048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667000" y="4157513"/>
            <a:ext cx="3048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38925" y="3840360"/>
            <a:ext cx="4476750" cy="822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1"/>
          <p:cNvSpPr txBox="1"/>
          <p:nvPr/>
        </p:nvSpPr>
        <p:spPr>
          <a:xfrm>
            <a:off x="762000" y="6429375"/>
            <a:ext cx="1514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Purchase Prediction Project</a:t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11049000" y="6429375"/>
            <a:ext cx="381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9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6638925" y="2928044"/>
            <a:ext cx="47005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Primary Value Drivers</a:t>
            </a:r>
            <a:endParaRPr/>
          </a:p>
        </p:txBody>
      </p:sp>
      <p:sp>
        <p:nvSpPr>
          <p:cNvPr id="319" name="Google Shape;319;p21"/>
          <p:cNvSpPr txBox="1"/>
          <p:nvPr/>
        </p:nvSpPr>
        <p:spPr>
          <a:xfrm>
            <a:off x="6638925" y="3270944"/>
            <a:ext cx="44767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Customer reviews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(Helpfulness &amp; Ratings) account for a massive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91.95% of total predictive power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 the model.</a:t>
            </a:r>
            <a:endParaRPr/>
          </a:p>
        </p:txBody>
      </p:sp>
      <p:sp>
        <p:nvSpPr>
          <p:cNvPr id="320" name="Google Shape;320;p21"/>
          <p:cNvSpPr txBox="1"/>
          <p:nvPr/>
        </p:nvSpPr>
        <p:spPr>
          <a:xfrm>
            <a:off x="6829425" y="3954660"/>
            <a:ext cx="4133850" cy="59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Strategic Takeaway: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Improving on-site social proof (review quality, display logic, helpful upvotes) will yield the highest incremental purchase volume.</a:t>
            </a:r>
            <a:endParaRPr/>
          </a:p>
        </p:txBody>
      </p:sp>
      <p:sp>
        <p:nvSpPr>
          <p:cNvPr id="321" name="Google Shape;321;p21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Feature Importance</a:t>
            </a:r>
            <a:endParaRPr/>
          </a:p>
        </p:txBody>
      </p:sp>
      <p:sp>
        <p:nvSpPr>
          <p:cNvPr id="322" name="Google Shape;322;p21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7" name="Google Shape;3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95537"/>
            <a:ext cx="336545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395537"/>
            <a:ext cx="336545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95537"/>
            <a:ext cx="3365599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2"/>
          <p:cNvSpPr txBox="1"/>
          <p:nvPr/>
        </p:nvSpPr>
        <p:spPr>
          <a:xfrm>
            <a:off x="762000" y="6429375"/>
            <a:ext cx="1514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Purchase Prediction Project</a:t>
            </a:r>
            <a:endParaRPr/>
          </a:p>
        </p:txBody>
      </p:sp>
      <p:sp>
        <p:nvSpPr>
          <p:cNvPr id="333" name="Google Shape;333;p22"/>
          <p:cNvSpPr txBox="1"/>
          <p:nvPr/>
        </p:nvSpPr>
        <p:spPr>
          <a:xfrm>
            <a:off x="11001375" y="6429375"/>
            <a:ext cx="4286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10</a:t>
            </a:r>
            <a:endParaRPr/>
          </a:p>
        </p:txBody>
      </p:sp>
      <p:pic>
        <p:nvPicPr>
          <p:cNvPr descr="image.png" id="334" name="Google Shape;33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2719387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2"/>
          <p:cNvSpPr txBox="1"/>
          <p:nvPr/>
        </p:nvSpPr>
        <p:spPr>
          <a:xfrm>
            <a:off x="1057275" y="3424237"/>
            <a:ext cx="16602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High Likelihood</a:t>
            </a:r>
            <a:endParaRPr/>
          </a:p>
        </p:txBody>
      </p:sp>
      <p:sp>
        <p:nvSpPr>
          <p:cNvPr id="336" name="Google Shape;336;p22"/>
          <p:cNvSpPr txBox="1"/>
          <p:nvPr/>
        </p:nvSpPr>
        <p:spPr>
          <a:xfrm>
            <a:off x="1057275" y="3767137"/>
            <a:ext cx="1362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22.0% of Customers</a:t>
            </a:r>
            <a:endParaRPr/>
          </a:p>
        </p:txBody>
      </p:sp>
      <p:sp>
        <p:nvSpPr>
          <p:cNvPr id="337" name="Google Shape;337;p22"/>
          <p:cNvSpPr txBox="1"/>
          <p:nvPr/>
        </p:nvSpPr>
        <p:spPr>
          <a:xfrm>
            <a:off x="1057275" y="4043362"/>
            <a:ext cx="13335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Avg Probability: 94.8%</a:t>
            </a:r>
            <a:endParaRPr/>
          </a:p>
        </p:txBody>
      </p:sp>
      <p:sp>
        <p:nvSpPr>
          <p:cNvPr id="338" name="Google Shape;338;p22"/>
          <p:cNvSpPr txBox="1"/>
          <p:nvPr/>
        </p:nvSpPr>
        <p:spPr>
          <a:xfrm>
            <a:off x="1057275" y="4343400"/>
            <a:ext cx="27749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Actions: Deploy real-time custom checkout offers, suppress discount margins to capture high intent organic sales.</a:t>
            </a:r>
            <a:endParaRPr/>
          </a:p>
        </p:txBody>
      </p:sp>
      <p:pic>
        <p:nvPicPr>
          <p:cNvPr descr="image.png" id="339" name="Google Shape;33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08475" y="2719387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2"/>
          <p:cNvSpPr txBox="1"/>
          <p:nvPr/>
        </p:nvSpPr>
        <p:spPr>
          <a:xfrm>
            <a:off x="4708475" y="3424237"/>
            <a:ext cx="203025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Medium Likelihood</a:t>
            </a:r>
            <a:endParaRPr/>
          </a:p>
        </p:txBody>
      </p:sp>
      <p:sp>
        <p:nvSpPr>
          <p:cNvPr id="341" name="Google Shape;341;p22"/>
          <p:cNvSpPr txBox="1"/>
          <p:nvPr/>
        </p:nvSpPr>
        <p:spPr>
          <a:xfrm>
            <a:off x="4708475" y="3767137"/>
            <a:ext cx="1276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0.2% of Customers</a:t>
            </a:r>
            <a:endParaRPr/>
          </a:p>
        </p:txBody>
      </p:sp>
      <p:sp>
        <p:nvSpPr>
          <p:cNvPr id="342" name="Google Shape;342;p22"/>
          <p:cNvSpPr txBox="1"/>
          <p:nvPr/>
        </p:nvSpPr>
        <p:spPr>
          <a:xfrm>
            <a:off x="4708475" y="4043362"/>
            <a:ext cx="13335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Avg Probability: 50.6%</a:t>
            </a:r>
            <a:endParaRPr/>
          </a:p>
        </p:txBody>
      </p:sp>
      <p:sp>
        <p:nvSpPr>
          <p:cNvPr id="343" name="Google Shape;343;p22"/>
          <p:cNvSpPr txBox="1"/>
          <p:nvPr/>
        </p:nvSpPr>
        <p:spPr>
          <a:xfrm>
            <a:off x="4708475" y="4343400"/>
            <a:ext cx="27749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Actions: Target with immediate, time-bound free shipping offers and personalized comparisons to push conversion.</a:t>
            </a:r>
            <a:endParaRPr/>
          </a:p>
        </p:txBody>
      </p:sp>
      <p:pic>
        <p:nvPicPr>
          <p:cNvPr descr="image.png" id="344" name="Google Shape;344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59675" y="2719387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2"/>
          <p:cNvSpPr txBox="1"/>
          <p:nvPr/>
        </p:nvSpPr>
        <p:spPr>
          <a:xfrm>
            <a:off x="8359675" y="3424237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Low Likelihood</a:t>
            </a:r>
            <a:endParaRPr/>
          </a:p>
        </p:txBody>
      </p:sp>
      <p:sp>
        <p:nvSpPr>
          <p:cNvPr id="346" name="Google Shape;346;p22"/>
          <p:cNvSpPr txBox="1"/>
          <p:nvPr/>
        </p:nvSpPr>
        <p:spPr>
          <a:xfrm>
            <a:off x="8359675" y="3767137"/>
            <a:ext cx="1314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77.7% of Customers</a:t>
            </a:r>
            <a:endParaRPr/>
          </a:p>
        </p:txBody>
      </p:sp>
      <p:sp>
        <p:nvSpPr>
          <p:cNvPr id="347" name="Google Shape;347;p22"/>
          <p:cNvSpPr txBox="1"/>
          <p:nvPr/>
        </p:nvSpPr>
        <p:spPr>
          <a:xfrm>
            <a:off x="8359675" y="4043362"/>
            <a:ext cx="12192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Avg Probability: 1.7%</a:t>
            </a:r>
            <a:endParaRPr/>
          </a:p>
        </p:txBody>
      </p:sp>
      <p:sp>
        <p:nvSpPr>
          <p:cNvPr id="348" name="Google Shape;348;p22"/>
          <p:cNvSpPr txBox="1"/>
          <p:nvPr/>
        </p:nvSpPr>
        <p:spPr>
          <a:xfrm>
            <a:off x="8359675" y="4343400"/>
            <a:ext cx="2775049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Actions: Retarget via broad top-of-funnel awareness campaigns. Highlight peer feedback to build confidence.</a:t>
            </a:r>
            <a:endParaRPr/>
          </a:p>
        </p:txBody>
      </p:sp>
      <p:pic>
        <p:nvPicPr>
          <p:cNvPr descr="image.png" id="349" name="Google Shape;349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00150" y="28622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51350" y="28622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502550" y="28622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2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Purchase Likelihood Segments</a:t>
            </a:r>
            <a:endParaRPr/>
          </a:p>
        </p:txBody>
      </p:sp>
      <p:sp>
        <p:nvSpPr>
          <p:cNvPr id="353" name="Google Shape;353;p22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63266"/>
            <a:ext cx="3429000" cy="1137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563266"/>
            <a:ext cx="3429000" cy="1137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2563266"/>
            <a:ext cx="3429000" cy="1137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890962"/>
            <a:ext cx="3429000" cy="1137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1500" y="3890962"/>
            <a:ext cx="3429000" cy="1137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3"/>
          <p:cNvSpPr txBox="1"/>
          <p:nvPr/>
        </p:nvSpPr>
        <p:spPr>
          <a:xfrm>
            <a:off x="762000" y="6429375"/>
            <a:ext cx="1514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Purchase Prediction Project</a:t>
            </a:r>
            <a:endParaRPr/>
          </a:p>
        </p:txBody>
      </p:sp>
      <p:sp>
        <p:nvSpPr>
          <p:cNvPr id="366" name="Google Shape;366;p23"/>
          <p:cNvSpPr txBox="1"/>
          <p:nvPr/>
        </p:nvSpPr>
        <p:spPr>
          <a:xfrm>
            <a:off x="11029950" y="6429375"/>
            <a:ext cx="4000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11</a:t>
            </a:r>
            <a:endParaRPr/>
          </a:p>
        </p:txBody>
      </p:sp>
      <p:sp>
        <p:nvSpPr>
          <p:cNvPr id="367" name="Google Shape;367;p23"/>
          <p:cNvSpPr txBox="1"/>
          <p:nvPr/>
        </p:nvSpPr>
        <p:spPr>
          <a:xfrm>
            <a:off x="962025" y="2763291"/>
            <a:ext cx="318039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r>
              <a:rPr b="1" i="0" lang="en-US" sz="12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Review Optimization</a:t>
            </a:r>
            <a:endParaRPr/>
          </a:p>
        </p:txBody>
      </p:sp>
      <p:sp>
        <p:nvSpPr>
          <p:cNvPr id="368" name="Google Shape;368;p23"/>
          <p:cNvSpPr txBox="1"/>
          <p:nvPr/>
        </p:nvSpPr>
        <p:spPr>
          <a:xfrm>
            <a:off x="962025" y="3020466"/>
            <a:ext cx="30289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Focus collection pipelines on high-utility textual reviews. Upvotes on reviews drive 72% of predicted purchase decisions.</a:t>
            </a:r>
            <a:endParaRPr/>
          </a:p>
        </p:txBody>
      </p:sp>
      <p:sp>
        <p:nvSpPr>
          <p:cNvPr id="369" name="Google Shape;369;p23"/>
          <p:cNvSpPr txBox="1"/>
          <p:nvPr/>
        </p:nvSpPr>
        <p:spPr>
          <a:xfrm>
            <a:off x="4581525" y="2763291"/>
            <a:ext cx="318039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r>
              <a:rPr b="1" i="0" lang="en-US" sz="12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Segmented Campaigns</a:t>
            </a:r>
            <a:endParaRPr/>
          </a:p>
        </p:txBody>
      </p:sp>
      <p:sp>
        <p:nvSpPr>
          <p:cNvPr id="370" name="Google Shape;370;p23"/>
          <p:cNvSpPr txBox="1"/>
          <p:nvPr/>
        </p:nvSpPr>
        <p:spPr>
          <a:xfrm>
            <a:off x="4581525" y="3020466"/>
            <a:ext cx="30289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Separate low, medium, and high probability buckets to ensure marketing dollars target only marginal converters.</a:t>
            </a:r>
            <a:endParaRPr/>
          </a:p>
        </p:txBody>
      </p:sp>
      <p:sp>
        <p:nvSpPr>
          <p:cNvPr id="371" name="Google Shape;371;p23"/>
          <p:cNvSpPr txBox="1"/>
          <p:nvPr/>
        </p:nvSpPr>
        <p:spPr>
          <a:xfrm>
            <a:off x="8201025" y="2763291"/>
            <a:ext cx="318039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r>
              <a:rPr b="1" i="0" lang="en-US" sz="12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Promote Ratings</a:t>
            </a:r>
            <a:endParaRPr/>
          </a:p>
        </p:txBody>
      </p:sp>
      <p:sp>
        <p:nvSpPr>
          <p:cNvPr id="372" name="Google Shape;372;p23"/>
          <p:cNvSpPr txBox="1"/>
          <p:nvPr/>
        </p:nvSpPr>
        <p:spPr>
          <a:xfrm>
            <a:off x="8201025" y="3020466"/>
            <a:ext cx="30289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Redesign PDPs (Product Detail Pages) to feature rating badges prominently above fold, capturing the secondary value driver.</a:t>
            </a:r>
            <a:endParaRPr/>
          </a:p>
        </p:txBody>
      </p:sp>
      <p:sp>
        <p:nvSpPr>
          <p:cNvPr id="373" name="Google Shape;373;p23"/>
          <p:cNvSpPr txBox="1"/>
          <p:nvPr/>
        </p:nvSpPr>
        <p:spPr>
          <a:xfrm>
            <a:off x="962025" y="4090987"/>
            <a:ext cx="318039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r>
              <a:rPr b="1" i="0" lang="en-US" sz="12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Prompt Registrations</a:t>
            </a:r>
            <a:endParaRPr/>
          </a:p>
        </p:txBody>
      </p:sp>
      <p:sp>
        <p:nvSpPr>
          <p:cNvPr id="374" name="Google Shape;374;p23"/>
          <p:cNvSpPr txBox="1"/>
          <p:nvPr/>
        </p:nvSpPr>
        <p:spPr>
          <a:xfrm>
            <a:off x="962025" y="4348162"/>
            <a:ext cx="30289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Since registered accounts purchase 38% more often, implement friction-free 1-click Google signups post checkout selection.</a:t>
            </a:r>
            <a:endParaRPr/>
          </a:p>
        </p:txBody>
      </p:sp>
      <p:sp>
        <p:nvSpPr>
          <p:cNvPr id="375" name="Google Shape;375;p23"/>
          <p:cNvSpPr txBox="1"/>
          <p:nvPr/>
        </p:nvSpPr>
        <p:spPr>
          <a:xfrm>
            <a:off x="4581525" y="4090987"/>
            <a:ext cx="318039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r>
              <a:rPr b="1" i="0" lang="en-US" sz="12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Margin-Safe Discounts</a:t>
            </a:r>
            <a:endParaRPr/>
          </a:p>
        </p:txBody>
      </p:sp>
      <p:sp>
        <p:nvSpPr>
          <p:cNvPr id="376" name="Google Shape;376;p23"/>
          <p:cNvSpPr txBox="1"/>
          <p:nvPr/>
        </p:nvSpPr>
        <p:spPr>
          <a:xfrm>
            <a:off x="4581525" y="4348162"/>
            <a:ext cx="30289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 discount campaigns *only* to medium-likelihood users. Suppress for high-likelihood profiles to save margins.</a:t>
            </a:r>
            <a:endParaRPr/>
          </a:p>
        </p:txBody>
      </p:sp>
      <p:sp>
        <p:nvSpPr>
          <p:cNvPr id="377" name="Google Shape;377;p23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Business Recommendations</a:t>
            </a:r>
            <a:endParaRPr/>
          </a:p>
        </p:txBody>
      </p:sp>
      <p:sp>
        <p:nvSpPr>
          <p:cNvPr id="378" name="Google Shape;378;p23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3" name="Google Shape;38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4"/>
          <p:cNvSpPr txBox="1"/>
          <p:nvPr/>
        </p:nvSpPr>
        <p:spPr>
          <a:xfrm>
            <a:off x="762000" y="6429375"/>
            <a:ext cx="1514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Purchase Prediction Project</a:t>
            </a:r>
            <a:endParaRPr/>
          </a:p>
        </p:txBody>
      </p:sp>
      <p:sp>
        <p:nvSpPr>
          <p:cNvPr id="386" name="Google Shape;386;p24"/>
          <p:cNvSpPr txBox="1"/>
          <p:nvPr/>
        </p:nvSpPr>
        <p:spPr>
          <a:xfrm>
            <a:off x="11010900" y="6429375"/>
            <a:ext cx="419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Page 12</a:t>
            </a:r>
            <a:endParaRPr/>
          </a:p>
        </p:txBody>
      </p:sp>
      <p:sp>
        <p:nvSpPr>
          <p:cNvPr id="387" name="Google Shape;387;p24"/>
          <p:cNvSpPr/>
          <p:nvPr/>
        </p:nvSpPr>
        <p:spPr>
          <a:xfrm>
            <a:off x="1238250" y="3871912"/>
            <a:ext cx="97155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88" name="Google Shape;38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74825" y="30337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4"/>
          <p:cNvSpPr txBox="1"/>
          <p:nvPr/>
        </p:nvSpPr>
        <p:spPr>
          <a:xfrm>
            <a:off x="1442829" y="3700462"/>
            <a:ext cx="194024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Immediate (30 Days)</a:t>
            </a:r>
            <a:endParaRPr/>
          </a:p>
        </p:txBody>
      </p:sp>
      <p:sp>
        <p:nvSpPr>
          <p:cNvPr id="390" name="Google Shape;390;p24"/>
          <p:cNvSpPr txBox="1"/>
          <p:nvPr/>
        </p:nvSpPr>
        <p:spPr>
          <a:xfrm>
            <a:off x="1174700" y="4005262"/>
            <a:ext cx="24765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Deploy review collection incentives. Set up basic user segmentation within CRM. Optimize PDP review visibility layout.</a:t>
            </a:r>
            <a:endParaRPr/>
          </a:p>
        </p:txBody>
      </p:sp>
      <p:pic>
        <p:nvPicPr>
          <p:cNvPr descr="image.png" id="391" name="Google Shape;39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7726" y="30337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4"/>
          <p:cNvSpPr txBox="1"/>
          <p:nvPr/>
        </p:nvSpPr>
        <p:spPr>
          <a:xfrm>
            <a:off x="4995713" y="3700462"/>
            <a:ext cx="22002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Medium-Term (3-6 Mos)</a:t>
            </a:r>
            <a:endParaRPr/>
          </a:p>
        </p:txBody>
      </p:sp>
      <p:sp>
        <p:nvSpPr>
          <p:cNvPr id="393" name="Google Shape;393;p24"/>
          <p:cNvSpPr txBox="1"/>
          <p:nvPr/>
        </p:nvSpPr>
        <p:spPr>
          <a:xfrm>
            <a:off x="4857601" y="4005262"/>
            <a:ext cx="24765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Integrate real-time predictive ML scores via API. Build segment-specific loyalty pathways. Launch A/B test splits.</a:t>
            </a:r>
            <a:endParaRPr/>
          </a:p>
        </p:txBody>
      </p:sp>
      <p:pic>
        <p:nvPicPr>
          <p:cNvPr descr="image.png" id="394" name="Google Shape;39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40775" y="30337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4"/>
          <p:cNvSpPr txBox="1"/>
          <p:nvPr/>
        </p:nvSpPr>
        <p:spPr>
          <a:xfrm>
            <a:off x="8783776" y="3700462"/>
            <a:ext cx="199024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Long-Term (6-12 Mos)</a:t>
            </a:r>
            <a:endParaRPr/>
          </a:p>
        </p:txBody>
      </p:sp>
      <p:sp>
        <p:nvSpPr>
          <p:cNvPr id="396" name="Google Shape;396;p24"/>
          <p:cNvSpPr txBox="1"/>
          <p:nvPr/>
        </p:nvSpPr>
        <p:spPr>
          <a:xfrm>
            <a:off x="8540650" y="4005262"/>
            <a:ext cx="24765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Scale pipeline to output Customer Lifetime Value (CLV). Automate omnichannel messaging based on churn flags.</a:t>
            </a:r>
            <a:endParaRPr/>
          </a:p>
        </p:txBody>
      </p:sp>
      <p:pic>
        <p:nvPicPr>
          <p:cNvPr descr="image.png" id="397" name="Google Shape;397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70087" y="3214687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8" name="Google Shape;398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24413" y="3214687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21750" y="3214687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4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Roadmap</a:t>
            </a:r>
            <a:endParaRPr/>
          </a:p>
        </p:txBody>
      </p:sp>
      <p:sp>
        <p:nvSpPr>
          <p:cNvPr id="401" name="Google Shape;401;p24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9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6" name="Google Shape;40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00362"/>
            <a:ext cx="51435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5"/>
          <p:cNvSpPr txBox="1"/>
          <p:nvPr/>
        </p:nvSpPr>
        <p:spPr>
          <a:xfrm>
            <a:off x="762000" y="6429375"/>
            <a:ext cx="1514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Purchase Prediction Project</a:t>
            </a:r>
            <a:endParaRPr/>
          </a:p>
        </p:txBody>
      </p:sp>
      <p:sp>
        <p:nvSpPr>
          <p:cNvPr id="410" name="Google Shape;410;p25"/>
          <p:cNvSpPr txBox="1"/>
          <p:nvPr/>
        </p:nvSpPr>
        <p:spPr>
          <a:xfrm>
            <a:off x="11001375" y="6429375"/>
            <a:ext cx="4286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Page 13</a:t>
            </a:r>
            <a:endParaRPr/>
          </a:p>
        </p:txBody>
      </p:sp>
      <p:sp>
        <p:nvSpPr>
          <p:cNvPr id="411" name="Google Shape;411;p25"/>
          <p:cNvSpPr txBox="1"/>
          <p:nvPr/>
        </p:nvSpPr>
        <p:spPr>
          <a:xfrm>
            <a:off x="762000" y="2900362"/>
            <a:ext cx="5400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Performance Snapshot</a:t>
            </a:r>
            <a:endParaRPr/>
          </a:p>
        </p:txBody>
      </p:sp>
      <p:sp>
        <p:nvSpPr>
          <p:cNvPr id="412" name="Google Shape;412;p25"/>
          <p:cNvSpPr txBox="1"/>
          <p:nvPr/>
        </p:nvSpPr>
        <p:spPr>
          <a:xfrm>
            <a:off x="1000125" y="3319462"/>
            <a:ext cx="4905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Built RF classifier yielding </a:t>
            </a:r>
            <a:r>
              <a:rPr b="1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99.72% test accuracy</a:t>
            </a:r>
            <a:r>
              <a:rPr b="0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and F1 score of 99.37%.</a:t>
            </a:r>
            <a:endParaRPr/>
          </a:p>
        </p:txBody>
      </p:sp>
      <p:sp>
        <p:nvSpPr>
          <p:cNvPr id="413" name="Google Shape;413;p25"/>
          <p:cNvSpPr txBox="1"/>
          <p:nvPr/>
        </p:nvSpPr>
        <p:spPr>
          <a:xfrm>
            <a:off x="1000125" y="3824287"/>
            <a:ext cx="4905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Achieved </a:t>
            </a:r>
            <a:r>
              <a:rPr b="1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100% precision</a:t>
            </a:r>
            <a:r>
              <a:rPr b="0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which entirely avoids marketing waste on non-buyers.</a:t>
            </a:r>
            <a:endParaRPr/>
          </a:p>
        </p:txBody>
      </p:sp>
      <p:sp>
        <p:nvSpPr>
          <p:cNvPr id="414" name="Google Shape;414;p25"/>
          <p:cNvSpPr txBox="1"/>
          <p:nvPr/>
        </p:nvSpPr>
        <p:spPr>
          <a:xfrm>
            <a:off x="1000125" y="4329112"/>
            <a:ext cx="4905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Identified customer reviews as the dominant conversion signal (91.95%).</a:t>
            </a:r>
            <a:endParaRPr/>
          </a:p>
        </p:txBody>
      </p:sp>
      <p:sp>
        <p:nvSpPr>
          <p:cNvPr id="415" name="Google Shape;415;p25"/>
          <p:cNvSpPr txBox="1"/>
          <p:nvPr/>
        </p:nvSpPr>
        <p:spPr>
          <a:xfrm>
            <a:off x="6600825" y="3214687"/>
            <a:ext cx="47405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Immediate Action List</a:t>
            </a:r>
            <a:endParaRPr/>
          </a:p>
        </p:txBody>
      </p:sp>
      <p:sp>
        <p:nvSpPr>
          <p:cNvPr id="416" name="Google Shape;416;p25"/>
          <p:cNvSpPr txBox="1"/>
          <p:nvPr/>
        </p:nvSpPr>
        <p:spPr>
          <a:xfrm>
            <a:off x="6696075" y="3558540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417" name="Google Shape;417;p25"/>
          <p:cNvSpPr txBox="1"/>
          <p:nvPr/>
        </p:nvSpPr>
        <p:spPr>
          <a:xfrm>
            <a:off x="6791325" y="3557587"/>
            <a:ext cx="43243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7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Deploy predictive classifier endpoint into product API.</a:t>
            </a:r>
            <a:endParaRPr/>
          </a:p>
        </p:txBody>
      </p:sp>
      <p:sp>
        <p:nvSpPr>
          <p:cNvPr id="418" name="Google Shape;418;p25"/>
          <p:cNvSpPr txBox="1"/>
          <p:nvPr/>
        </p:nvSpPr>
        <p:spPr>
          <a:xfrm>
            <a:off x="6667500" y="3798450"/>
            <a:ext cx="1238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419" name="Google Shape;419;p25"/>
          <p:cNvSpPr txBox="1"/>
          <p:nvPr/>
        </p:nvSpPr>
        <p:spPr>
          <a:xfrm>
            <a:off x="6791325" y="3797498"/>
            <a:ext cx="43243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7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A/B test PDP layout focusing exclusively on upvoted reviews.</a:t>
            </a:r>
            <a:endParaRPr/>
          </a:p>
        </p:txBody>
      </p:sp>
      <p:sp>
        <p:nvSpPr>
          <p:cNvPr id="420" name="Google Shape;420;p25"/>
          <p:cNvSpPr txBox="1"/>
          <p:nvPr/>
        </p:nvSpPr>
        <p:spPr>
          <a:xfrm>
            <a:off x="6667500" y="4038361"/>
            <a:ext cx="1238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421" name="Google Shape;421;p25"/>
          <p:cNvSpPr txBox="1"/>
          <p:nvPr/>
        </p:nvSpPr>
        <p:spPr>
          <a:xfrm>
            <a:off x="6791325" y="4037409"/>
            <a:ext cx="43243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7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Track segment migration quarterly to update baseline models.</a:t>
            </a:r>
            <a:endParaRPr/>
          </a:p>
        </p:txBody>
      </p:sp>
      <p:pic>
        <p:nvPicPr>
          <p:cNvPr descr="image.png" id="422" name="Google Shape;42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33851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3" name="Google Shape;42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843337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34816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5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Conclusion &amp; Key Takeaways</a:t>
            </a:r>
            <a:endParaRPr/>
          </a:p>
        </p:txBody>
      </p:sp>
      <p:sp>
        <p:nvSpPr>
          <p:cNvPr id="426" name="Google Shape;426;p25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9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1" name="Google Shape;43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2" name="Google Shape;43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1883" y="4281338"/>
            <a:ext cx="3488084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3" name="Google Shape;43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62769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6"/>
          <p:cNvSpPr txBox="1"/>
          <p:nvPr/>
        </p:nvSpPr>
        <p:spPr>
          <a:xfrm>
            <a:off x="4351883" y="2166937"/>
            <a:ext cx="3488084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END OF PRESENTATION</a:t>
            </a:r>
            <a:endParaRPr/>
          </a:p>
        </p:txBody>
      </p:sp>
      <p:sp>
        <p:nvSpPr>
          <p:cNvPr id="435" name="Google Shape;435;p26"/>
          <p:cNvSpPr txBox="1"/>
          <p:nvPr/>
        </p:nvSpPr>
        <p:spPr>
          <a:xfrm>
            <a:off x="4264681" y="2608808"/>
            <a:ext cx="3662489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Thank You!</a:t>
            </a:r>
            <a:endParaRPr/>
          </a:p>
        </p:txBody>
      </p:sp>
      <p:sp>
        <p:nvSpPr>
          <p:cNvPr id="436" name="Google Shape;436;p26"/>
          <p:cNvSpPr txBox="1"/>
          <p:nvPr/>
        </p:nvSpPr>
        <p:spPr>
          <a:xfrm>
            <a:off x="4351883" y="3595538"/>
            <a:ext cx="348808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Questions &amp; Discussion</a:t>
            </a:r>
            <a:endParaRPr/>
          </a:p>
        </p:txBody>
      </p:sp>
      <p:sp>
        <p:nvSpPr>
          <p:cNvPr id="437" name="Google Shape;437;p26"/>
          <p:cNvSpPr txBox="1"/>
          <p:nvPr/>
        </p:nvSpPr>
        <p:spPr>
          <a:xfrm>
            <a:off x="762000" y="6429375"/>
            <a:ext cx="1104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BI &amp; Analytics Group</a:t>
            </a:r>
            <a:endParaRPr/>
          </a:p>
        </p:txBody>
      </p:sp>
      <p:sp>
        <p:nvSpPr>
          <p:cNvPr id="438" name="Google Shape;438;p26"/>
          <p:cNvSpPr txBox="1"/>
          <p:nvPr/>
        </p:nvSpPr>
        <p:spPr>
          <a:xfrm>
            <a:off x="9763125" y="6429375"/>
            <a:ext cx="16668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Corporate Presentation • 2026</a:t>
            </a:r>
            <a:endParaRPr/>
          </a:p>
        </p:txBody>
      </p:sp>
      <p:sp>
        <p:nvSpPr>
          <p:cNvPr id="439" name="Google Shape;439;p26"/>
          <p:cNvSpPr txBox="1"/>
          <p:nvPr/>
        </p:nvSpPr>
        <p:spPr>
          <a:xfrm>
            <a:off x="4376588" y="4528988"/>
            <a:ext cx="10001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Sruthi Doddi</a:t>
            </a:r>
            <a:endParaRPr/>
          </a:p>
        </p:txBody>
      </p:sp>
      <p:sp>
        <p:nvSpPr>
          <p:cNvPr id="440" name="Google Shape;440;p26"/>
          <p:cNvSpPr txBox="1"/>
          <p:nvPr/>
        </p:nvSpPr>
        <p:spPr>
          <a:xfrm>
            <a:off x="5757713" y="4528988"/>
            <a:ext cx="2057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sruthi.doddi@enterprise.com</a:t>
            </a:r>
            <a:endParaRPr/>
          </a:p>
        </p:txBody>
      </p:sp>
      <p:pic>
        <p:nvPicPr>
          <p:cNvPr descr="image.png" id="441" name="Google Shape;44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76588" y="4548038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2" name="Google Shape;44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57713" y="4548038"/>
            <a:ext cx="1333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