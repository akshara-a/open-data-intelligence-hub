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Calibri"/>
              </a:rPr>
              <a:t>Baseline vs. Optimized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Logistic Regression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0.839</c:v>
                </c:pt>
                <c:pt idx="1">
                  <c:v>0.848</c:v>
                </c:pt>
                <c:pt idx="2">
                  <c:v>0.826</c:v>
                </c:pt>
                <c:pt idx="3">
                  <c:v>0.837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 Logistic Regression (Selected)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0.845</c:v>
                </c:pt>
                <c:pt idx="1">
                  <c:v>0.854</c:v>
                </c:pt>
                <c:pt idx="2">
                  <c:v>0.832</c:v>
                </c:pt>
                <c:pt idx="3">
                  <c:v>0.843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9525" cap="flat">
              <a:solidFill>
                <a:srgbClr val="E5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3D5C"/>
                </a:solidFill>
                <a:latin typeface="Calibri"/>
              </a:rPr>
              <a:t>Random Forest — Top 7 of 10 Features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Previous Purchases</c:v>
                  </c:pt>
                  <c:pt idx="1">
                    <c:v>Cart Items</c:v>
                  </c:pt>
                  <c:pt idx="2">
                    <c:v>Time On Site</c:v>
                  </c:pt>
                  <c:pt idx="3">
                    <c:v>Pages Viewed</c:v>
                  </c:pt>
                  <c:pt idx="4">
                    <c:v>Discount Used</c:v>
                  </c:pt>
                  <c:pt idx="5">
                    <c:v>Avg. Order Value</c:v>
                  </c:pt>
                  <c:pt idx="6">
                    <c:v>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0.4623</c:v>
                </c:pt>
                <c:pt idx="1">
                  <c:v>0.2431</c:v>
                </c:pt>
                <c:pt idx="2">
                  <c:v>0.1407</c:v>
                </c:pt>
                <c:pt idx="3">
                  <c:v>0.0801</c:v>
                </c:pt>
                <c:pt idx="4">
                  <c:v>0.0311</c:v>
                </c:pt>
                <c:pt idx="5">
                  <c:v>0.0153</c:v>
                </c:pt>
                <c:pt idx="6">
                  <c:v>0.0126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3D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1371600" cy="13716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5" name="Image 0" descr="icons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0744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146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E-COMMERCE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LIKELIHOOD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8580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browsing behavior into a scored, targetable purchase signal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5074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566160" y="5074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6616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5074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46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Feature Analysis  |  purchase_prediction_analysis.ipynb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Business Problem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website visits never turn into a sale — and treating every visitor the same wastes marketing and personalization budget.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25146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EFF4F7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2788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3520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Budget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0233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spend, discounts, and personalized service are finite resources that must be aimed at the right customers.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5146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EFF4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0600" y="2788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00600" y="3520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Intent Traffic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00600" y="40233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blends high-intent shoppers with casual browsers who are unlikely to buy regardless of incentive.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366760" y="25146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EFF4F7"/>
          </a:solidFill>
          <a:ln/>
        </p:spPr>
      </p:sp>
      <p:sp>
        <p:nvSpPr>
          <p:cNvPr id="18" name="Shape 15"/>
          <p:cNvSpPr/>
          <p:nvPr/>
        </p:nvSpPr>
        <p:spPr>
          <a:xfrm>
            <a:off x="8641080" y="2788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19" name="Text 16"/>
          <p:cNvSpPr/>
          <p:nvPr/>
        </p:nvSpPr>
        <p:spPr>
          <a:xfrm>
            <a:off x="8641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641080" y="3520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 Live Score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641080" y="40233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needs a real-time purchase-likelihood score to drive discounting, retargeting, and UX decisions.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model that scores each customer's likelihood to purchase, using behavior already captured on-site.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Dataset Overview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1508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85800" y="20756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12 attributes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85800" y="33101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/ duplicates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85800" y="45445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/ no-purchase split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463040"/>
          <a:ext cx="704088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Demographic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Age, Gender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Behavior / Session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PagesViewed, TimeOnSite, CartItems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History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PreviousPurchases, AverageOrderValue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Context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DeviceType, TrafficSource, DiscountUsed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Purchase (0 / 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85800" y="6035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perfectly balanced (2,500 / 2,500), so accuracy is a trustworthy metric for this analysis.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Exploratory Findings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76656" y="1453896"/>
            <a:ext cx="566928" cy="566928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1595628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417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activity separates buyers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17320" y="17830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show customers who purchase carry visibly more cart items than those who don't.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6656" y="2386584"/>
            <a:ext cx="566928" cy="566928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2528316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3500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customers convert more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417320" y="27157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prior-purchase counts line up clearly with a higher purchase rate.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6656" y="3319272"/>
            <a:ext cx="566928" cy="566928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1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3461004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28269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helps, but less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417320" y="364845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on site and more pages viewed both trend with purchase, but with more overlap between groups.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76656" y="4251960"/>
            <a:ext cx="566928" cy="566928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4393692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21538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give a visible lift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1417320" y="458114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is noticeably higher among sessions where a discount code was applied.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76656" y="5184648"/>
            <a:ext cx="566928" cy="566928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23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5326380"/>
            <a:ext cx="283464" cy="2834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514807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&amp; channel: minor effects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417320" y="55138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 varies a little by device type and traffic source, but not sharply.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Preprocessing Approach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6060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80360" y="21945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/>
        </p:spPr>
      </p:sp>
      <p:sp>
        <p:nvSpPr>
          <p:cNvPr id="9" name="Text 6"/>
          <p:cNvSpPr/>
          <p:nvPr/>
        </p:nvSpPr>
        <p:spPr>
          <a:xfrm>
            <a:off x="2880360" y="2194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fields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(mean) → Scale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80360" y="31546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4F7"/>
          </a:solidFill>
          <a:ln/>
        </p:spPr>
      </p:sp>
      <p:sp>
        <p:nvSpPr>
          <p:cNvPr id="11" name="Text 8"/>
          <p:cNvSpPr/>
          <p:nvPr/>
        </p:nvSpPr>
        <p:spPr>
          <a:xfrm>
            <a:off x="2880360" y="31546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(mode) → One-Hot Encode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26060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(combined pipeline)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778240" y="26060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/>
        </p:spPr>
      </p:sp>
      <p:sp>
        <p:nvSpPr>
          <p:cNvPr id="15" name="Text 12"/>
          <p:cNvSpPr/>
          <p:nvPr/>
        </p:nvSpPr>
        <p:spPr>
          <a:xfrm>
            <a:off x="8778240" y="2606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468880" y="2953512"/>
            <a:ext cx="411480" cy="219456"/>
          </a:xfrm>
          <a:prstGeom prst="rightArrow">
            <a:avLst/>
          </a:prstGeom>
          <a:solidFill>
            <a:srgbClr val="B7C6CE"/>
          </a:solidFill>
          <a:ln/>
        </p:spPr>
      </p:sp>
      <p:sp>
        <p:nvSpPr>
          <p:cNvPr id="17" name="Shape 14"/>
          <p:cNvSpPr/>
          <p:nvPr/>
        </p:nvSpPr>
        <p:spPr>
          <a:xfrm>
            <a:off x="5532120" y="2953512"/>
            <a:ext cx="457200" cy="219456"/>
          </a:xfrm>
          <a:prstGeom prst="rightArrow">
            <a:avLst/>
          </a:prstGeom>
          <a:solidFill>
            <a:srgbClr val="B7C6CE"/>
          </a:solidFill>
          <a:ln/>
        </p:spPr>
      </p:sp>
      <p:sp>
        <p:nvSpPr>
          <p:cNvPr id="18" name="Shape 15"/>
          <p:cNvSpPr/>
          <p:nvPr/>
        </p:nvSpPr>
        <p:spPr>
          <a:xfrm>
            <a:off x="8275320" y="2953512"/>
            <a:ext cx="502920" cy="219456"/>
          </a:xfrm>
          <a:prstGeom prst="rightArrow">
            <a:avLst/>
          </a:prstGeom>
          <a:solidFill>
            <a:srgbClr val="B7C6CE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train-test split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(4,000 train / 1,000 test, random_state = 42) — same pipeline applied consistently across all three candidate models.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duplicates were found, so imputation is a safeguard for future/live data rather than a fix needed here.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5–6. Models Compared &amp; Tuning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0B3D5C"/>
          </a:solidFill>
          <a:ln/>
        </p:spPr>
      </p:sp>
      <p:sp>
        <p:nvSpPr>
          <p:cNvPr id="7" name="Shape 4"/>
          <p:cNvSpPr/>
          <p:nvPr/>
        </p:nvSpPr>
        <p:spPr>
          <a:xfrm>
            <a:off x="2651760" y="160020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8" name="Text 5"/>
          <p:cNvSpPr/>
          <p:nvPr/>
        </p:nvSpPr>
        <p:spPr>
          <a:xfrm>
            <a:off x="2651760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057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baseline; stable and interpretable.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3246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PARAMETERS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penalty, solver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4617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4892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C=0.01, l2, liblinear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480560" y="141732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EFF4F7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691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54880" y="21488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tree; captures non-linear splits.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0" y="3246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PARAMETERS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5488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max_depth, min_samples_split/leaf, criterion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54880" y="4617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54880" y="4892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5-fold GridSearchCV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321040" y="141732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EFF4F7"/>
          </a:solidFill>
          <a:ln/>
        </p:spPr>
      </p:sp>
      <p:sp>
        <p:nvSpPr>
          <p:cNvPr id="23" name="Text 20"/>
          <p:cNvSpPr/>
          <p:nvPr/>
        </p:nvSpPr>
        <p:spPr>
          <a:xfrm>
            <a:off x="8595360" y="1691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595360" y="21488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trees; more robust, used for feature importance.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95360" y="3246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PARAMETERS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95360" y="3520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n_estimators, max_depth, max_features, min_samples_split/leaf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595360" y="46177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595360" y="4892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depth=5, max_features=log2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tuned with 5-fold GridSearchCV, optimizing F1-score. Logistic Regression gave the best balance of accuracy, precision, and F1 — selected as the production model.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Final Model Performance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001000" y="1417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/>
        </p:spPr>
      </p:sp>
      <p:sp>
        <p:nvSpPr>
          <p:cNvPr id="8" name="Text 4"/>
          <p:cNvSpPr/>
          <p:nvPr/>
        </p:nvSpPr>
        <p:spPr>
          <a:xfrm>
            <a:off x="80010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01000" y="1920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0.922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001000" y="333756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EFF4F7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Logistic Regression won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0" y="39319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combined accuracy, precision, and F1 of all six model/status combinations tested — Decision Tree and Random Forest trailed on every metric.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ROC-AUC for the Decision Tree and Random Forest was computed from Logistic Regression's probabilities in the source notebook — only the Logistic Regression figure above is confirmed accurate.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Feature Importance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3152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092440" y="1417320"/>
            <a:ext cx="3474720" cy="4709160"/>
          </a:xfrm>
          <a:prstGeom prst="roundRect">
            <a:avLst>
              <a:gd name="adj" fmla="val 2105"/>
            </a:avLst>
          </a:prstGeom>
          <a:solidFill>
            <a:srgbClr val="0B3D5C"/>
          </a:solidFill>
          <a:ln/>
        </p:spPr>
      </p:sp>
      <p:sp>
        <p:nvSpPr>
          <p:cNvPr id="8" name="Text 4"/>
          <p:cNvSpPr/>
          <p:nvPr/>
        </p:nvSpPr>
        <p:spPr>
          <a:xfrm>
            <a:off x="8092440" y="16916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8366760" y="25146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importance comes from just two features: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 + Cart Items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366760" y="3657600"/>
            <a:ext cx="2926080" cy="0"/>
          </a:xfrm>
          <a:prstGeom prst="line">
            <a:avLst/>
          </a:prstGeom>
          <a:noFill/>
          <a:ln w="12700">
            <a:solidFill>
              <a:srgbClr val="3E6A8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38862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and traffic source (age, gender, channel) together contribute under 2% — behavior beats identity.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"/>
            <a:ext cx="731520" cy="731520"/>
          </a:xfrm>
          <a:prstGeom prst="ellipse">
            <a:avLst/>
          </a:prstGeom>
          <a:solidFill>
            <a:srgbClr val="EFF4F7"/>
          </a:solidFill>
          <a:ln/>
        </p:spPr>
      </p:sp>
      <p:pic>
        <p:nvPicPr>
          <p:cNvPr id="4" name="Image 0" descr="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5603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Business Recommendations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FF4F7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08760" y="1709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by behavior, not demographics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37744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campaigns using cart activity and purchase history — age, gender, and channel barely move the needle.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5087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FF4F7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737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78040" y="1709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real-time cart-recovery nudges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37960" y="237744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size is the #2 predictor — flag stalled high-cart sessions for an immediate, low-friction nudge.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F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08760" y="41788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formal win-back program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68680" y="48463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 is the #1 predictor — re-engaging lapsed repeat customers is the highest-leverage lever available.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397764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EFF4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65A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178040" y="41788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discounts, don't broadcast them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537960" y="484632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 helps but modestly — aim codes at engaged, high-cart shoppers who haven't yet converted.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Prediction Analysis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448056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" y="2514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icon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445770"/>
            <a:ext cx="388620" cy="388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Limitations &amp; Next Steps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10312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0116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fields are capped/simplified (e.g., time on site ≤ 9 min) vs. real production traffic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8803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purchase split is far more balanced than typical real-world conversion rates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84048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7490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comes from Random Forest, not the deployed Logistic Regression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470916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61772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/ Random Forest ROC-AUC in the notebook needs recalculation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080760" y="210312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20116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saved model behind a live scoring API for Marketing / CRM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297180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8803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performance against real, imbalanced production traffic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80760" y="384048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3749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cart-recovery and targeted-discount treatments with a control group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80760" y="470916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46177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features with product category, recency, and campaign data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9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2026-07-18T10:58:47Z</dcterms:created>
  <dcterms:modified xsi:type="dcterms:W3CDTF">2026-07-18T10:58:47Z</dcterms:modified>
</cp:coreProperties>
</file>