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6639" y="252464"/>
            <a:ext cx="7772400" cy="1470025"/>
          </a:xfrm>
        </p:spPr>
        <p:txBody>
          <a:bodyPr/>
          <a:lstStyle/>
          <a:p>
            <a:r>
              <a:rPr dirty="0"/>
              <a:t>Optimized Classification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722489"/>
            <a:ext cx="6400800" cy="2928169"/>
          </a:xfrm>
        </p:spPr>
        <p:txBody>
          <a:bodyPr/>
          <a:lstStyle/>
          <a:p>
            <a:r>
              <a:rPr dirty="0"/>
              <a:t>E-Commerce Purchase Prediction</a:t>
            </a:r>
          </a:p>
          <a:p>
            <a:endParaRPr dirty="0"/>
          </a:p>
          <a:p>
            <a:r>
              <a:rPr dirty="0"/>
              <a:t>Feature Importance &amp;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1. Business Problem</a:t>
            </a:r>
          </a:p>
          <a:p>
            <a:pPr>
              <a:defRPr sz="1800"/>
            </a:pPr>
            <a:r>
              <a:t>2. Dataset Overview</a:t>
            </a:r>
          </a:p>
          <a:p>
            <a:pPr>
              <a:defRPr sz="1800"/>
            </a:pPr>
            <a:r>
              <a:t>3. Exploratory Data Analysis</a:t>
            </a:r>
          </a:p>
          <a:p>
            <a:pPr>
              <a:defRPr sz="1800"/>
            </a:pPr>
            <a:r>
              <a:t>4. Model Comparison</a:t>
            </a:r>
          </a:p>
          <a:p>
            <a:pPr>
              <a:defRPr sz="1800"/>
            </a:pPr>
            <a:r>
              <a:t>5. Feature Importance</a:t>
            </a:r>
          </a:p>
          <a:p>
            <a:pPr>
              <a:defRPr sz="1800"/>
            </a:pPr>
            <a:r>
              <a:t>6. Business Recommendations</a:t>
            </a:r>
          </a:p>
          <a:p>
            <a:pPr>
              <a:defRPr sz="1800"/>
            </a:pPr>
            <a:r>
              <a:t>7.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E-commerce platforms need to identify customers likely to purchase.</a:t>
            </a:r>
          </a:p>
          <a:p>
            <a:pPr>
              <a:defRPr sz="1800"/>
            </a:pPr>
            <a:r>
              <a:t>Goal: Predict purchase likelihood using customer behavior.</a:t>
            </a:r>
          </a:p>
          <a:p>
            <a:pPr>
              <a:defRPr sz="1800"/>
            </a:pPr>
            <a:r>
              <a:t>Key Questions:</a:t>
            </a:r>
          </a:p>
          <a:p>
            <a:pPr>
              <a:defRPr sz="1800"/>
            </a:pPr>
            <a:r>
              <a:t>• Which customers are most likely to buy?</a:t>
            </a:r>
          </a:p>
          <a:p>
            <a:pPr>
              <a:defRPr sz="1800"/>
            </a:pPr>
            <a:r>
              <a:t>• What features influence purchase decisions?</a:t>
            </a:r>
          </a:p>
          <a:p>
            <a:pPr>
              <a:defRPr sz="1800"/>
            </a:pPr>
            <a:r>
              <a:t>• How can we optimize marketing spend?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• Total Customers: 10000</a:t>
            </a:r>
          </a:p>
          <a:p>
            <a:pPr>
              <a:defRPr sz="1800"/>
            </a:pPr>
            <a:r>
              <a:t>• Features: 18</a:t>
            </a:r>
          </a:p>
          <a:p>
            <a:pPr>
              <a:defRPr sz="1800"/>
            </a:pPr>
            <a:r>
              <a:t>• Purchase Rate: 59.68%</a:t>
            </a:r>
          </a:p>
          <a:p>
            <a:pPr>
              <a:defRPr sz="1800"/>
            </a:pPr>
            <a:r>
              <a:t>• Key Features: CartItems, TimeOnSite, PagesViewed, EmailClicked</a:t>
            </a:r>
          </a:p>
          <a:p>
            <a:pPr>
              <a:defRPr sz="1800"/>
            </a:pPr>
            <a:r>
              <a:t>• Target: Purchase (Binary)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39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ROC-AUC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0.9629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XGBoost (Optimized + Threshold)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Features Influencing Purchase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1. CartItems → Strongest predictor</a:t>
            </a:r>
          </a:p>
          <a:p>
            <a:pPr>
              <a:defRPr sz="1800"/>
            </a:pPr>
            <a:r>
              <a:t>2. TimeOnSite → Engagement indicator</a:t>
            </a:r>
          </a:p>
          <a:p>
            <a:pPr>
              <a:defRPr sz="1800"/>
            </a:pPr>
            <a:r>
              <a:t>3. PagesViewed → Product discovery</a:t>
            </a:r>
          </a:p>
          <a:p>
            <a:pPr>
              <a:defRPr sz="1800"/>
            </a:pPr>
            <a:r>
              <a:t>4. EmailClicked → Marketing engagement</a:t>
            </a:r>
          </a:p>
          <a:p>
            <a:pPr>
              <a:defRPr sz="1800"/>
            </a:pPr>
            <a:r>
              <a:t>5. DaysSinceLastVisit → Recency effect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HIGH LIKELIHOOD: Aggressive Marketing</a:t>
            </a:r>
          </a:p>
          <a:p>
            <a:pPr>
              <a:defRPr sz="1800"/>
            </a:pPr>
            <a:r>
              <a:rPr dirty="0"/>
              <a:t>   → 1-Click checkout, Cart reminders, Exclusive offers</a:t>
            </a:r>
          </a:p>
          <a:p>
            <a:pPr>
              <a:defRPr sz="1800"/>
            </a:pPr>
            <a:r>
              <a:rPr dirty="0"/>
              <a:t>MEDIUM LIKELIHOOD: Nurturing Campaigns</a:t>
            </a:r>
          </a:p>
          <a:p>
            <a:pPr>
              <a:defRPr sz="1800"/>
            </a:pPr>
            <a:r>
              <a:rPr dirty="0"/>
              <a:t>   → Product recommendations, Reviews, Free shipping</a:t>
            </a:r>
          </a:p>
          <a:p>
            <a:pPr>
              <a:defRPr sz="1800"/>
            </a:pPr>
            <a:r>
              <a:rPr dirty="0"/>
              <a:t> LOW LIKELIHOOD: Brand Awareness</a:t>
            </a:r>
          </a:p>
          <a:p>
            <a:pPr>
              <a:defRPr sz="1800"/>
            </a:pPr>
            <a:r>
              <a:rPr dirty="0"/>
              <a:t>   → Low-cost emails, Collect feedback, Improve 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 Best Model: Optimized </a:t>
            </a:r>
            <a:r>
              <a:rPr dirty="0" err="1"/>
              <a:t>XGBoost</a:t>
            </a:r>
            <a:endParaRPr dirty="0"/>
          </a:p>
          <a:p>
            <a:pPr>
              <a:defRPr sz="1800"/>
            </a:pPr>
            <a:r>
              <a:rPr dirty="0"/>
              <a:t> Accuracy: 97.60%</a:t>
            </a:r>
          </a:p>
          <a:p>
            <a:pPr>
              <a:defRPr sz="1800"/>
            </a:pPr>
            <a:r>
              <a:rPr dirty="0"/>
              <a:t> F1-Score: 0.9800</a:t>
            </a:r>
          </a:p>
          <a:p>
            <a:pPr>
              <a:defRPr sz="1800"/>
            </a:pPr>
            <a:r>
              <a:rPr dirty="0"/>
              <a:t> ROC-AUC: 0.9793</a:t>
            </a:r>
          </a:p>
          <a:p>
            <a:pPr>
              <a:defRPr sz="1800"/>
            </a:pPr>
            <a:r>
              <a:rPr dirty="0"/>
              <a:t> Recommended Threshold: 0.60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 Business Impact:</a:t>
            </a:r>
          </a:p>
          <a:p>
            <a:pPr>
              <a:defRPr sz="1800"/>
            </a:pPr>
            <a:r>
              <a:rPr dirty="0"/>
              <a:t>• 97% marketing efficiency</a:t>
            </a:r>
          </a:p>
          <a:p>
            <a:pPr>
              <a:defRPr sz="1800"/>
            </a:pPr>
            <a:r>
              <a:rPr dirty="0"/>
              <a:t>• Captures 98% of potential buyers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 </a:t>
            </a:r>
            <a:r>
              <a:rPr dirty="0" err="1"/>
              <a:t>XGBoost</a:t>
            </a:r>
            <a:r>
              <a:rPr dirty="0"/>
              <a:t> model successfully predicts customer purchase likelihood.</a:t>
            </a:r>
          </a:p>
          <a:p>
            <a:pPr>
              <a:defRPr sz="1800"/>
            </a:pPr>
            <a:r>
              <a:rPr dirty="0"/>
              <a:t> Feature importance helps optimize marketing strategy.</a:t>
            </a:r>
          </a:p>
          <a:p>
            <a:pPr>
              <a:defRPr sz="1800"/>
            </a:pPr>
            <a:r>
              <a:rPr dirty="0"/>
              <a:t> Risk segmentation enables targeted campaigns.</a:t>
            </a:r>
          </a:p>
          <a:p>
            <a:pPr>
              <a:defRPr sz="1800"/>
            </a:pPr>
            <a:r>
              <a:rPr dirty="0"/>
              <a:t> Model is production-ready for deployment.</a:t>
            </a:r>
          </a:p>
          <a:p>
            <a:pPr marL="0" indent="0"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326</Words>
  <Application>Microsoft Office PowerPoint</Application>
  <PresentationFormat>On-screen Show (4:3)</PresentationFormat>
  <Paragraphs>97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Optimized Classification Model</vt:lpstr>
      <vt:lpstr>Agenda</vt:lpstr>
      <vt:lpstr>Business Problem</vt:lpstr>
      <vt:lpstr>Dataset Overview</vt:lpstr>
      <vt:lpstr>Model Performance Comparison</vt:lpstr>
      <vt:lpstr>Top Features Influencing Purchase</vt:lpstr>
      <vt:lpstr>Business Recommendations</vt:lpstr>
      <vt:lpstr>Final Model Performance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Suraj Singh</cp:lastModifiedBy>
  <cp:revision>2</cp:revision>
  <dcterms:created xsi:type="dcterms:W3CDTF">2013-01-27T09:14:16Z</dcterms:created>
  <dcterms:modified xsi:type="dcterms:W3CDTF">2026-07-29T13:25:12Z</dcterms:modified>
  <cp:category/>
</cp:coreProperties>
</file>